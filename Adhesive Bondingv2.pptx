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20971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86496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807303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35657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97815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115741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63981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59026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17492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405563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71732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AD823-24A2-4B3A-8F52-569B17163690}" type="datetimeFigureOut">
              <a:rPr lang="tr-TR" smtClean="0"/>
              <a:pPr/>
              <a:t>2.04.2018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F5B4-8F03-4D51-8D5D-879C942927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91625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207899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Effect of an Atmospheric Pressure Plasma Treatment on the Mode I Fracture Toughness of a Co-Cured Composite Joint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xmlns="" val="183874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1.Introduction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 err="1" smtClean="0"/>
              <a:t>Convenient</a:t>
            </a:r>
            <a:r>
              <a:rPr lang="tr-TR" sz="2400" dirty="0" smtClean="0"/>
              <a:t> </a:t>
            </a:r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co-cure</a:t>
            </a:r>
            <a:r>
              <a:rPr lang="tr-TR" sz="2400" dirty="0" smtClean="0"/>
              <a:t>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two</a:t>
            </a:r>
            <a:r>
              <a:rPr lang="tr-TR" sz="2400" dirty="0" smtClean="0"/>
              <a:t> </a:t>
            </a:r>
            <a:r>
              <a:rPr lang="tr-TR" sz="2400" dirty="0" err="1" smtClean="0"/>
              <a:t>materials</a:t>
            </a:r>
            <a:r>
              <a:rPr lang="tr-TR" sz="2400" dirty="0" smtClean="0"/>
              <a:t> </a:t>
            </a:r>
            <a:r>
              <a:rPr lang="tr-TR" sz="2400" dirty="0" err="1" smtClean="0"/>
              <a:t>using</a:t>
            </a:r>
            <a:r>
              <a:rPr lang="tr-TR" sz="2400" dirty="0" smtClean="0"/>
              <a:t> </a:t>
            </a:r>
            <a:r>
              <a:rPr lang="tr-TR" sz="2400" dirty="0" err="1" smtClean="0"/>
              <a:t>single</a:t>
            </a:r>
            <a:r>
              <a:rPr lang="tr-TR" sz="2400" dirty="0" smtClean="0"/>
              <a:t> </a:t>
            </a:r>
            <a:r>
              <a:rPr lang="tr-TR" sz="2400" dirty="0" err="1" smtClean="0"/>
              <a:t>processing</a:t>
            </a:r>
            <a:r>
              <a:rPr lang="tr-TR" sz="2400" dirty="0" smtClean="0"/>
              <a:t> </a:t>
            </a:r>
            <a:r>
              <a:rPr lang="tr-TR" sz="2400" dirty="0" err="1" smtClean="0"/>
              <a:t>process</a:t>
            </a:r>
            <a:endParaRPr lang="tr-TR" sz="2400" dirty="0" smtClean="0"/>
          </a:p>
          <a:p>
            <a:pPr marL="0" indent="0">
              <a:buNone/>
            </a:pPr>
            <a:endParaRPr lang="tr-TR" sz="2400" dirty="0" smtClean="0"/>
          </a:p>
          <a:p>
            <a:r>
              <a:rPr lang="tr-TR" sz="2400" dirty="0" err="1" smtClean="0"/>
              <a:t>Pros</a:t>
            </a:r>
            <a:r>
              <a:rPr lang="tr-TR" sz="2400" dirty="0" smtClean="0"/>
              <a:t>:</a:t>
            </a:r>
          </a:p>
          <a:p>
            <a:pPr lvl="1"/>
            <a:r>
              <a:rPr lang="tr-TR" dirty="0" err="1" smtClean="0"/>
              <a:t>Reduces</a:t>
            </a:r>
            <a:r>
              <a:rPr lang="tr-TR" dirty="0" smtClean="0"/>
              <a:t> </a:t>
            </a:r>
            <a:r>
              <a:rPr lang="tr-TR" dirty="0" err="1" smtClean="0"/>
              <a:t>cost</a:t>
            </a:r>
            <a:endParaRPr lang="tr-TR" dirty="0" smtClean="0"/>
          </a:p>
          <a:p>
            <a:pPr lvl="1"/>
            <a:r>
              <a:rPr lang="tr-TR" dirty="0" err="1" smtClean="0"/>
              <a:t>Reduce</a:t>
            </a:r>
            <a:r>
              <a:rPr lang="tr-TR" dirty="0" smtClean="0"/>
              <a:t> </a:t>
            </a:r>
            <a:r>
              <a:rPr lang="tr-TR" dirty="0" err="1" smtClean="0"/>
              <a:t>processing</a:t>
            </a:r>
            <a:r>
              <a:rPr lang="tr-TR" dirty="0" smtClean="0"/>
              <a:t> time</a:t>
            </a:r>
          </a:p>
          <a:p>
            <a:r>
              <a:rPr lang="tr-TR" sz="2400" dirty="0" err="1" smtClean="0"/>
              <a:t>Cons</a:t>
            </a:r>
            <a:r>
              <a:rPr lang="tr-TR" sz="2400" dirty="0" smtClean="0"/>
              <a:t>:</a:t>
            </a:r>
          </a:p>
          <a:p>
            <a:pPr lvl="1"/>
            <a:r>
              <a:rPr lang="tr-TR" dirty="0" err="1" smtClean="0"/>
              <a:t>Epoxy</a:t>
            </a:r>
            <a:r>
              <a:rPr lang="tr-TR" dirty="0" smtClean="0"/>
              <a:t> </a:t>
            </a:r>
            <a:r>
              <a:rPr lang="tr-TR" dirty="0" err="1" smtClean="0"/>
              <a:t>resin</a:t>
            </a:r>
            <a:r>
              <a:rPr lang="tr-TR" dirty="0" smtClean="0"/>
              <a:t> </a:t>
            </a:r>
            <a:r>
              <a:rPr lang="tr-TR" dirty="0" err="1" smtClean="0"/>
              <a:t>contains</a:t>
            </a:r>
            <a:r>
              <a:rPr lang="tr-TR" dirty="0" smtClean="0"/>
              <a:t> </a:t>
            </a:r>
            <a:r>
              <a:rPr lang="tr-TR" dirty="0" err="1" smtClean="0"/>
              <a:t>moisture</a:t>
            </a:r>
            <a:r>
              <a:rPr lang="tr-TR" dirty="0" smtClean="0"/>
              <a:t>(</a:t>
            </a:r>
            <a:r>
              <a:rPr lang="tr-TR" dirty="0" err="1" smtClean="0"/>
              <a:t>free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bounded</a:t>
            </a:r>
            <a:r>
              <a:rPr lang="tr-TR" dirty="0" smtClean="0"/>
              <a:t>) </a:t>
            </a:r>
            <a:r>
              <a:rPr lang="tr-TR" dirty="0" smtClean="0">
                <a:sym typeface="Wingdings" panose="05000000000000000000" pitchFamily="2" charset="2"/>
              </a:rPr>
              <a:t></a:t>
            </a:r>
            <a:r>
              <a:rPr lang="tr-TR" dirty="0" smtClean="0"/>
              <a:t> </a:t>
            </a:r>
            <a:r>
              <a:rPr lang="tr-TR" dirty="0" err="1" smtClean="0"/>
              <a:t>interfacial</a:t>
            </a:r>
            <a:r>
              <a:rPr lang="tr-TR" dirty="0" smtClean="0"/>
              <a:t> </a:t>
            </a:r>
            <a:r>
              <a:rPr lang="tr-TR" dirty="0" err="1" smtClean="0"/>
              <a:t>failure</a:t>
            </a:r>
            <a:endParaRPr lang="tr-TR" dirty="0" smtClean="0"/>
          </a:p>
          <a:p>
            <a:pPr lvl="1"/>
            <a:endParaRPr lang="tr-TR" dirty="0" smtClean="0"/>
          </a:p>
          <a:p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eleminate</a:t>
            </a:r>
            <a:r>
              <a:rPr lang="tr-TR" sz="2400" dirty="0" smtClean="0"/>
              <a:t>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drawback</a:t>
            </a:r>
            <a:r>
              <a:rPr lang="tr-TR" sz="2400" dirty="0" smtClean="0"/>
              <a:t>:</a:t>
            </a:r>
          </a:p>
          <a:p>
            <a:pPr lvl="1"/>
            <a:r>
              <a:rPr lang="tr-TR" dirty="0" err="1" smtClean="0"/>
              <a:t>Apply</a:t>
            </a:r>
            <a:r>
              <a:rPr lang="tr-TR" dirty="0" smtClean="0"/>
              <a:t> </a:t>
            </a:r>
            <a:r>
              <a:rPr lang="tr-TR" dirty="0" err="1" smtClean="0"/>
              <a:t>plasma</a:t>
            </a:r>
            <a:r>
              <a:rPr lang="tr-TR" dirty="0" smtClean="0"/>
              <a:t> </a:t>
            </a:r>
            <a:r>
              <a:rPr lang="tr-TR" dirty="0" err="1" smtClean="0"/>
              <a:t>treatment</a:t>
            </a:r>
            <a:r>
              <a:rPr lang="tr-TR" dirty="0" smtClean="0"/>
              <a:t> on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surface</a:t>
            </a:r>
            <a:r>
              <a:rPr lang="tr-TR" dirty="0" smtClean="0"/>
              <a:t> </a:t>
            </a:r>
            <a:r>
              <a:rPr lang="tr-TR" dirty="0" smtClean="0">
                <a:sym typeface="Wingdings" panose="05000000000000000000" pitchFamily="2" charset="2"/>
              </a:rPr>
              <a:t> </a:t>
            </a:r>
            <a:r>
              <a:rPr lang="tr-TR" dirty="0" err="1" smtClean="0">
                <a:sym typeface="Wingdings" panose="05000000000000000000" pitchFamily="2" charset="2"/>
              </a:rPr>
              <a:t>Too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much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treatment</a:t>
            </a:r>
            <a:r>
              <a:rPr lang="tr-TR" dirty="0" smtClean="0">
                <a:sym typeface="Wingdings" panose="05000000000000000000" pitchFamily="2" charset="2"/>
              </a:rPr>
              <a:t> is </a:t>
            </a:r>
            <a:r>
              <a:rPr lang="tr-TR" dirty="0" err="1" smtClean="0">
                <a:sym typeface="Wingdings" panose="05000000000000000000" pitchFamily="2" charset="2"/>
              </a:rPr>
              <a:t>detrimental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xmlns="" val="3610892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Most</a:t>
            </a:r>
            <a:r>
              <a:rPr lang="tr-TR" dirty="0" smtClean="0"/>
              <a:t> </a:t>
            </a:r>
            <a:r>
              <a:rPr lang="tr-TR" dirty="0" err="1" smtClean="0"/>
              <a:t>paper</a:t>
            </a:r>
            <a:r>
              <a:rPr lang="tr-TR" dirty="0" smtClean="0"/>
              <a:t> </a:t>
            </a:r>
            <a:r>
              <a:rPr lang="tr-TR" dirty="0" err="1" smtClean="0"/>
              <a:t>focuses</a:t>
            </a:r>
            <a:r>
              <a:rPr lang="tr-TR" dirty="0" smtClean="0"/>
              <a:t> </a:t>
            </a:r>
            <a:r>
              <a:rPr lang="tr-TR" dirty="0" err="1" smtClean="0"/>
              <a:t>plasma</a:t>
            </a:r>
            <a:r>
              <a:rPr lang="tr-TR" dirty="0" smtClean="0"/>
              <a:t> </a:t>
            </a:r>
            <a:r>
              <a:rPr lang="tr-TR" dirty="0" err="1" smtClean="0"/>
              <a:t>treatment</a:t>
            </a:r>
            <a:r>
              <a:rPr lang="tr-TR" dirty="0" smtClean="0"/>
              <a:t> on </a:t>
            </a:r>
            <a:r>
              <a:rPr lang="tr-TR" dirty="0" err="1" smtClean="0"/>
              <a:t>second</a:t>
            </a:r>
            <a:r>
              <a:rPr lang="tr-TR" dirty="0" smtClean="0"/>
              <a:t> </a:t>
            </a:r>
            <a:r>
              <a:rPr lang="tr-TR" dirty="0" err="1" smtClean="0"/>
              <a:t>bonding</a:t>
            </a:r>
            <a:r>
              <a:rPr lang="tr-TR" dirty="0" smtClean="0"/>
              <a:t> </a:t>
            </a:r>
            <a:r>
              <a:rPr lang="tr-TR" dirty="0" err="1" smtClean="0"/>
              <a:t>composite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r>
              <a:rPr lang="tr-TR" dirty="0" err="1" smtClean="0"/>
              <a:t>This</a:t>
            </a:r>
            <a:r>
              <a:rPr lang="tr-TR" dirty="0" smtClean="0"/>
              <a:t> </a:t>
            </a:r>
            <a:r>
              <a:rPr lang="tr-TR" dirty="0" err="1" smtClean="0"/>
              <a:t>paper</a:t>
            </a:r>
            <a:r>
              <a:rPr lang="tr-TR" dirty="0" smtClean="0"/>
              <a:t> </a:t>
            </a:r>
            <a:r>
              <a:rPr lang="tr-TR" dirty="0" err="1" smtClean="0"/>
              <a:t>investigates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effect</a:t>
            </a:r>
            <a:r>
              <a:rPr lang="tr-TR" dirty="0" smtClean="0"/>
              <a:t> on </a:t>
            </a:r>
            <a:r>
              <a:rPr lang="tr-TR" dirty="0" err="1" smtClean="0"/>
              <a:t>co-cured</a:t>
            </a:r>
            <a:r>
              <a:rPr lang="tr-TR" dirty="0" smtClean="0"/>
              <a:t> </a:t>
            </a:r>
            <a:r>
              <a:rPr lang="tr-TR" dirty="0" err="1" smtClean="0"/>
              <a:t>joints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70323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2.Manufacture&amp;Methods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 err="1" smtClean="0"/>
              <a:t>Materials</a:t>
            </a:r>
            <a:r>
              <a:rPr lang="tr-TR" sz="2400" dirty="0" smtClean="0"/>
              <a:t>:</a:t>
            </a:r>
          </a:p>
          <a:p>
            <a:r>
              <a:rPr lang="tr-TR" sz="2400" dirty="0" smtClean="0"/>
              <a:t>177 °C </a:t>
            </a:r>
            <a:r>
              <a:rPr lang="tr-TR" sz="2400" dirty="0" err="1" smtClean="0"/>
              <a:t>cure</a:t>
            </a:r>
            <a:r>
              <a:rPr lang="tr-TR" sz="2400" dirty="0" smtClean="0"/>
              <a:t> </a:t>
            </a:r>
            <a:r>
              <a:rPr lang="tr-TR" sz="2400" dirty="0" err="1" smtClean="0"/>
              <a:t>unidirectional</a:t>
            </a:r>
            <a:r>
              <a:rPr lang="tr-TR" sz="2400" dirty="0" smtClean="0"/>
              <a:t> </a:t>
            </a:r>
            <a:r>
              <a:rPr lang="tr-TR" sz="2400" dirty="0" err="1" smtClean="0"/>
              <a:t>carbon</a:t>
            </a:r>
            <a:r>
              <a:rPr lang="tr-TR" sz="2400" dirty="0" smtClean="0"/>
              <a:t>-fiber/</a:t>
            </a:r>
            <a:r>
              <a:rPr lang="tr-TR" sz="2400" dirty="0" err="1" smtClean="0"/>
              <a:t>epoxy</a:t>
            </a:r>
            <a:r>
              <a:rPr lang="tr-TR" sz="2400" dirty="0" smtClean="0"/>
              <a:t> </a:t>
            </a:r>
            <a:r>
              <a:rPr lang="tr-TR" sz="2400" dirty="0" err="1" smtClean="0"/>
              <a:t>prepreg</a:t>
            </a:r>
            <a:r>
              <a:rPr lang="tr-TR" sz="2400" dirty="0" smtClean="0"/>
              <a:t> (CYCOM 977-2/HTS)</a:t>
            </a:r>
          </a:p>
          <a:p>
            <a:r>
              <a:rPr lang="tr-TR" sz="2400" dirty="0" smtClean="0"/>
              <a:t>Dual 120/177 °C  </a:t>
            </a:r>
            <a:r>
              <a:rPr lang="tr-TR" sz="2400" dirty="0" err="1" smtClean="0"/>
              <a:t>cure</a:t>
            </a:r>
            <a:r>
              <a:rPr lang="tr-TR" sz="2400" dirty="0" smtClean="0"/>
              <a:t> </a:t>
            </a:r>
            <a:r>
              <a:rPr lang="tr-TR" sz="2400" dirty="0" err="1" smtClean="0"/>
              <a:t>epoxy</a:t>
            </a:r>
            <a:r>
              <a:rPr lang="tr-TR" sz="2400" dirty="0" smtClean="0"/>
              <a:t> film </a:t>
            </a:r>
            <a:r>
              <a:rPr lang="tr-TR" sz="2400" dirty="0" err="1" smtClean="0"/>
              <a:t>adhesive</a:t>
            </a:r>
            <a:r>
              <a:rPr lang="tr-TR" sz="2400" dirty="0" smtClean="0"/>
              <a:t> (FM300-2M)</a:t>
            </a:r>
          </a:p>
          <a:p>
            <a:endParaRPr lang="tr-TR" sz="2400" dirty="0"/>
          </a:p>
          <a:p>
            <a:pPr marL="0" indent="0">
              <a:buNone/>
            </a:pPr>
            <a:r>
              <a:rPr lang="tr-TR" sz="2400" dirty="0" err="1" smtClean="0"/>
              <a:t>Each</a:t>
            </a:r>
            <a:r>
              <a:rPr lang="tr-TR" sz="2400" dirty="0" smtClean="0"/>
              <a:t> </a:t>
            </a:r>
            <a:r>
              <a:rPr lang="tr-TR" sz="2400" dirty="0" err="1" smtClean="0"/>
              <a:t>substrate</a:t>
            </a:r>
            <a:r>
              <a:rPr lang="tr-TR" sz="2400" dirty="0" smtClean="0"/>
              <a:t> </a:t>
            </a:r>
            <a:r>
              <a:rPr lang="tr-TR" sz="2400" dirty="0" err="1" smtClean="0"/>
              <a:t>consists</a:t>
            </a:r>
            <a:r>
              <a:rPr lang="tr-TR" sz="2400" dirty="0" smtClean="0"/>
              <a:t> 10plies of 977-2/HTS </a:t>
            </a:r>
            <a:r>
              <a:rPr lang="tr-TR" sz="2400" dirty="0" err="1" smtClean="0"/>
              <a:t>prepreg</a:t>
            </a:r>
            <a:endParaRPr lang="tr-TR" sz="2400" dirty="0" smtClean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r>
              <a:rPr lang="tr-TR" sz="2400" dirty="0" err="1" smtClean="0"/>
              <a:t>Specimen</a:t>
            </a:r>
            <a:r>
              <a:rPr lang="tr-TR" sz="2400" dirty="0" smtClean="0"/>
              <a:t>:</a:t>
            </a:r>
          </a:p>
          <a:p>
            <a:pPr marL="0" indent="0">
              <a:buNone/>
            </a:pPr>
            <a:r>
              <a:rPr lang="tr-TR" sz="2400" dirty="0" smtClean="0"/>
              <a:t>Width:25mm Length:150mm Thickness:5.6mm </a:t>
            </a:r>
            <a:r>
              <a:rPr lang="tr-TR" sz="2400" dirty="0" err="1" smtClean="0"/>
              <a:t>Initial</a:t>
            </a:r>
            <a:r>
              <a:rPr lang="tr-TR" sz="2400" dirty="0" smtClean="0"/>
              <a:t> </a:t>
            </a:r>
            <a:r>
              <a:rPr lang="tr-TR" sz="2400" dirty="0" err="1" smtClean="0"/>
              <a:t>Crack</a:t>
            </a:r>
            <a:r>
              <a:rPr lang="tr-TR" sz="2400" dirty="0" smtClean="0"/>
              <a:t> Size:45mm </a:t>
            </a:r>
          </a:p>
        </p:txBody>
      </p:sp>
    </p:spTree>
    <p:extLst>
      <p:ext uri="{BB962C8B-B14F-4D97-AF65-F5344CB8AC3E}">
        <p14:creationId xmlns:p14="http://schemas.microsoft.com/office/powerpoint/2010/main" xmlns="" val="235579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u="sng" dirty="0" smtClean="0"/>
              <a:t>2.1 </a:t>
            </a:r>
            <a:r>
              <a:rPr lang="tr-TR" u="sng" dirty="0" err="1" smtClean="0"/>
              <a:t>Fracture</a:t>
            </a:r>
            <a:r>
              <a:rPr lang="tr-TR" u="sng" dirty="0" smtClean="0"/>
              <a:t> Test </a:t>
            </a:r>
            <a:r>
              <a:rPr lang="tr-TR" u="sng" dirty="0" err="1" smtClean="0"/>
              <a:t>Methods</a:t>
            </a:r>
            <a:endParaRPr lang="tr-TR" u="sng" dirty="0" smtClean="0"/>
          </a:p>
          <a:p>
            <a:r>
              <a:rPr lang="tr-TR" dirty="0" err="1" smtClean="0"/>
              <a:t>Double</a:t>
            </a:r>
            <a:r>
              <a:rPr lang="tr-TR" dirty="0" smtClean="0"/>
              <a:t> </a:t>
            </a:r>
            <a:r>
              <a:rPr lang="tr-TR" dirty="0" err="1" smtClean="0"/>
              <a:t>cantilever</a:t>
            </a:r>
            <a:r>
              <a:rPr lang="tr-TR" dirty="0" smtClean="0"/>
              <a:t> </a:t>
            </a:r>
            <a:r>
              <a:rPr lang="tr-TR" dirty="0" err="1" smtClean="0"/>
              <a:t>beam</a:t>
            </a:r>
            <a:r>
              <a:rPr lang="tr-TR" dirty="0" smtClean="0"/>
              <a:t> test </a:t>
            </a:r>
            <a:r>
              <a:rPr lang="tr-TR" dirty="0" err="1" smtClean="0"/>
              <a:t>with</a:t>
            </a:r>
            <a:r>
              <a:rPr lang="tr-TR" dirty="0" smtClean="0"/>
              <a:t> British </a:t>
            </a:r>
            <a:r>
              <a:rPr lang="tr-TR" dirty="0" err="1" smtClean="0"/>
              <a:t>Standards</a:t>
            </a:r>
            <a:r>
              <a:rPr lang="tr-TR" dirty="0" smtClean="0"/>
              <a:t> 7991</a:t>
            </a:r>
          </a:p>
          <a:p>
            <a:r>
              <a:rPr lang="tr-TR" dirty="0" err="1" smtClean="0"/>
              <a:t>Constant</a:t>
            </a:r>
            <a:r>
              <a:rPr lang="tr-TR" dirty="0" smtClean="0"/>
              <a:t> </a:t>
            </a:r>
            <a:r>
              <a:rPr lang="tr-TR" dirty="0" err="1" smtClean="0"/>
              <a:t>crosshead</a:t>
            </a:r>
            <a:r>
              <a:rPr lang="tr-TR" dirty="0" smtClean="0"/>
              <a:t> </a:t>
            </a:r>
            <a:r>
              <a:rPr lang="tr-TR" dirty="0" err="1" smtClean="0"/>
              <a:t>displacement</a:t>
            </a:r>
            <a:r>
              <a:rPr lang="tr-TR" dirty="0" smtClean="0"/>
              <a:t>: 1mm/</a:t>
            </a:r>
            <a:r>
              <a:rPr lang="tr-TR" dirty="0" err="1" smtClean="0"/>
              <a:t>min</a:t>
            </a:r>
            <a:endParaRPr lang="tr-TR" dirty="0" smtClean="0"/>
          </a:p>
          <a:p>
            <a:r>
              <a:rPr lang="tr-TR" dirty="0" smtClean="0"/>
              <a:t>Three </a:t>
            </a:r>
            <a:r>
              <a:rPr lang="tr-TR" dirty="0" err="1" smtClean="0"/>
              <a:t>repeats</a:t>
            </a:r>
            <a:r>
              <a:rPr lang="tr-TR" dirty="0" smtClean="0"/>
              <a:t> on </a:t>
            </a:r>
            <a:r>
              <a:rPr lang="tr-TR" dirty="0" err="1" smtClean="0"/>
              <a:t>each</a:t>
            </a:r>
            <a:r>
              <a:rPr lang="tr-TR" dirty="0" smtClean="0"/>
              <a:t> </a:t>
            </a:r>
            <a:r>
              <a:rPr lang="tr-TR" dirty="0" err="1" smtClean="0"/>
              <a:t>specimen</a:t>
            </a:r>
            <a:endParaRPr lang="tr-TR" dirty="0" smtClean="0"/>
          </a:p>
          <a:p>
            <a:pPr marL="0" indent="0">
              <a:buNone/>
            </a:pPr>
            <a:r>
              <a:rPr lang="tr-TR" u="sng" dirty="0" smtClean="0"/>
              <a:t>2.2 </a:t>
            </a:r>
            <a:r>
              <a:rPr lang="tr-TR" u="sng" dirty="0" err="1" smtClean="0"/>
              <a:t>Scanning</a:t>
            </a:r>
            <a:r>
              <a:rPr lang="tr-TR" u="sng" dirty="0" smtClean="0"/>
              <a:t> </a:t>
            </a:r>
            <a:r>
              <a:rPr lang="tr-TR" u="sng" dirty="0" err="1" smtClean="0"/>
              <a:t>Electron</a:t>
            </a:r>
            <a:r>
              <a:rPr lang="tr-TR" u="sng" dirty="0" smtClean="0"/>
              <a:t> </a:t>
            </a:r>
            <a:r>
              <a:rPr lang="tr-TR" u="sng" dirty="0" err="1" smtClean="0"/>
              <a:t>Microscopy</a:t>
            </a:r>
            <a:r>
              <a:rPr lang="tr-TR" u="sng" dirty="0" smtClean="0"/>
              <a:t> </a:t>
            </a:r>
            <a:r>
              <a:rPr lang="tr-TR" u="sng" dirty="0" err="1" smtClean="0"/>
              <a:t>Method</a:t>
            </a:r>
            <a:endParaRPr lang="tr-TR" u="sng" dirty="0" smtClean="0"/>
          </a:p>
          <a:p>
            <a:pPr marL="0" indent="0">
              <a:buNone/>
            </a:pPr>
            <a:r>
              <a:rPr lang="tr-TR" u="sng" dirty="0" smtClean="0"/>
              <a:t>2.3 </a:t>
            </a:r>
            <a:r>
              <a:rPr lang="tr-TR" u="sng" dirty="0" err="1" smtClean="0"/>
              <a:t>Thermal</a:t>
            </a:r>
            <a:r>
              <a:rPr lang="tr-TR" u="sng" dirty="0" smtClean="0"/>
              <a:t> </a:t>
            </a:r>
            <a:r>
              <a:rPr lang="tr-TR" u="sng" dirty="0" err="1" smtClean="0"/>
              <a:t>Characterisation</a:t>
            </a:r>
            <a:r>
              <a:rPr lang="tr-TR" u="sng" dirty="0" smtClean="0"/>
              <a:t> </a:t>
            </a:r>
            <a:r>
              <a:rPr lang="tr-TR" u="sng" dirty="0" err="1" smtClean="0"/>
              <a:t>Methods</a:t>
            </a:r>
            <a:endParaRPr lang="tr-TR" u="sng" dirty="0" smtClean="0"/>
          </a:p>
          <a:p>
            <a:r>
              <a:rPr lang="tr-TR" dirty="0" err="1" smtClean="0"/>
              <a:t>Heated</a:t>
            </a:r>
            <a:r>
              <a:rPr lang="tr-TR" dirty="0" smtClean="0"/>
              <a:t> </a:t>
            </a:r>
            <a:r>
              <a:rPr lang="tr-TR" dirty="0" err="1" smtClean="0"/>
              <a:t>from</a:t>
            </a:r>
            <a:r>
              <a:rPr lang="tr-TR" dirty="0" smtClean="0"/>
              <a:t> 25°C  </a:t>
            </a:r>
            <a:r>
              <a:rPr lang="tr-TR" dirty="0" err="1" smtClean="0"/>
              <a:t>to</a:t>
            </a:r>
            <a:r>
              <a:rPr lang="tr-TR" dirty="0" smtClean="0"/>
              <a:t> 350°C (10</a:t>
            </a:r>
            <a:r>
              <a:rPr lang="tr-TR" dirty="0"/>
              <a:t> °C </a:t>
            </a:r>
            <a:r>
              <a:rPr lang="tr-TR" dirty="0" smtClean="0"/>
              <a:t>/</a:t>
            </a:r>
            <a:r>
              <a:rPr lang="tr-TR" dirty="0" err="1" smtClean="0"/>
              <a:t>min</a:t>
            </a:r>
            <a:r>
              <a:rPr lang="tr-TR" dirty="0" smtClean="0"/>
              <a:t>)</a:t>
            </a:r>
          </a:p>
          <a:p>
            <a:r>
              <a:rPr lang="tr-TR" u="sng" dirty="0" err="1" smtClean="0"/>
              <a:t>To</a:t>
            </a:r>
            <a:r>
              <a:rPr lang="tr-TR" u="sng" dirty="0" smtClean="0"/>
              <a:t> </a:t>
            </a:r>
            <a:r>
              <a:rPr lang="tr-TR" u="sng" dirty="0" err="1" smtClean="0"/>
              <a:t>determine</a:t>
            </a:r>
            <a:r>
              <a:rPr lang="tr-TR" u="sng" dirty="0" smtClean="0"/>
              <a:t> </a:t>
            </a:r>
            <a:r>
              <a:rPr lang="tr-TR" u="sng" dirty="0" err="1" smtClean="0"/>
              <a:t>glass</a:t>
            </a:r>
            <a:r>
              <a:rPr lang="tr-TR" u="sng" dirty="0" smtClean="0"/>
              <a:t> </a:t>
            </a:r>
            <a:r>
              <a:rPr lang="tr-TR" u="sng" dirty="0" err="1" smtClean="0"/>
              <a:t>transition</a:t>
            </a:r>
            <a:r>
              <a:rPr lang="tr-TR" u="sng" dirty="0" smtClean="0"/>
              <a:t> </a:t>
            </a:r>
            <a:r>
              <a:rPr lang="tr-TR" u="sng" dirty="0" err="1" smtClean="0"/>
              <a:t>temperature</a:t>
            </a:r>
            <a:endParaRPr lang="tr-TR" u="sng" dirty="0" smtClean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154459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400" u="sng" dirty="0" smtClean="0"/>
              <a:t>2.4 </a:t>
            </a:r>
            <a:r>
              <a:rPr lang="tr-TR" sz="2400" u="sng" dirty="0" err="1" smtClean="0"/>
              <a:t>Surface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Energy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Characterisation</a:t>
            </a:r>
            <a:endParaRPr lang="tr-TR" sz="2400" u="sng" dirty="0" smtClean="0"/>
          </a:p>
          <a:p>
            <a:r>
              <a:rPr lang="tr-TR" sz="2400" dirty="0" err="1" smtClean="0"/>
              <a:t>Sessile</a:t>
            </a:r>
            <a:r>
              <a:rPr lang="tr-TR" sz="2400" dirty="0" smtClean="0"/>
              <a:t> </a:t>
            </a:r>
            <a:r>
              <a:rPr lang="tr-TR" sz="2400" dirty="0" err="1" smtClean="0"/>
              <a:t>drop</a:t>
            </a:r>
            <a:r>
              <a:rPr lang="tr-TR" sz="2400" dirty="0" smtClean="0"/>
              <a:t> </a:t>
            </a:r>
            <a:r>
              <a:rPr lang="tr-TR" sz="2400" dirty="0" err="1" smtClean="0"/>
              <a:t>technique</a:t>
            </a:r>
            <a:endParaRPr lang="tr-TR" sz="2400" dirty="0" smtClean="0"/>
          </a:p>
          <a:p>
            <a:r>
              <a:rPr lang="tr-TR" sz="2400" dirty="0" err="1" smtClean="0"/>
              <a:t>Surface</a:t>
            </a:r>
            <a:r>
              <a:rPr lang="tr-TR" sz="2400" dirty="0" smtClean="0"/>
              <a:t> </a:t>
            </a:r>
            <a:r>
              <a:rPr lang="tr-TR" sz="2400" dirty="0" err="1" smtClean="0"/>
              <a:t>energy</a:t>
            </a:r>
            <a:r>
              <a:rPr lang="tr-TR" sz="2400" dirty="0" smtClean="0"/>
              <a:t> is </a:t>
            </a:r>
            <a:r>
              <a:rPr lang="tr-TR" sz="2400" dirty="0" err="1" smtClean="0"/>
              <a:t>calculated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OWRK </a:t>
            </a:r>
            <a:r>
              <a:rPr lang="tr-TR" sz="2400" dirty="0" err="1" smtClean="0"/>
              <a:t>method</a:t>
            </a:r>
            <a:r>
              <a:rPr lang="tr-TR" sz="2400" dirty="0" smtClean="0"/>
              <a:t>.</a:t>
            </a:r>
          </a:p>
          <a:p>
            <a:pPr marL="0" indent="0">
              <a:buNone/>
            </a:pPr>
            <a:r>
              <a:rPr lang="tr-TR" sz="2400" u="sng" dirty="0" smtClean="0"/>
              <a:t>2.5 </a:t>
            </a:r>
            <a:r>
              <a:rPr lang="tr-TR" sz="2400" u="sng" dirty="0" err="1" smtClean="0"/>
              <a:t>Labline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Plasma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Treatment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System</a:t>
            </a:r>
            <a:endParaRPr lang="tr-TR" sz="2400" u="sng" dirty="0" smtClean="0"/>
          </a:p>
          <a:p>
            <a:r>
              <a:rPr lang="tr-TR" sz="2400" dirty="0" err="1" smtClean="0"/>
              <a:t>Constant</a:t>
            </a:r>
            <a:r>
              <a:rPr lang="tr-TR" sz="2400" dirty="0" smtClean="0"/>
              <a:t> </a:t>
            </a:r>
            <a:r>
              <a:rPr lang="tr-TR" sz="2400" dirty="0" err="1" smtClean="0"/>
              <a:t>speed</a:t>
            </a:r>
            <a:r>
              <a:rPr lang="tr-TR" sz="2400" dirty="0" smtClean="0"/>
              <a:t>: 1.5 m/</a:t>
            </a:r>
            <a:r>
              <a:rPr lang="tr-TR" sz="2400" dirty="0" err="1" smtClean="0"/>
              <a:t>min</a:t>
            </a:r>
            <a:endParaRPr lang="tr-TR" sz="2400" dirty="0" smtClean="0"/>
          </a:p>
          <a:p>
            <a:r>
              <a:rPr lang="tr-TR" sz="2400" dirty="0" err="1" smtClean="0"/>
              <a:t>Applied</a:t>
            </a:r>
            <a:r>
              <a:rPr lang="tr-TR" sz="2400" dirty="0" smtClean="0"/>
              <a:t> </a:t>
            </a:r>
            <a:r>
              <a:rPr lang="tr-TR" sz="2400" dirty="0" err="1" smtClean="0"/>
              <a:t>only</a:t>
            </a:r>
            <a:r>
              <a:rPr lang="tr-TR" sz="2400" dirty="0" smtClean="0"/>
              <a:t> on </a:t>
            </a:r>
            <a:r>
              <a:rPr lang="tr-TR" sz="2400" dirty="0" err="1" smtClean="0"/>
              <a:t>two</a:t>
            </a:r>
            <a:r>
              <a:rPr lang="tr-TR" sz="2400" dirty="0" smtClean="0"/>
              <a:t> </a:t>
            </a:r>
            <a:r>
              <a:rPr lang="tr-TR" sz="2400" dirty="0" err="1" smtClean="0"/>
              <a:t>prepreg</a:t>
            </a:r>
            <a:r>
              <a:rPr lang="tr-TR" sz="2400" dirty="0" smtClean="0"/>
              <a:t> </a:t>
            </a:r>
            <a:r>
              <a:rPr lang="tr-TR" sz="2400" dirty="0" err="1" smtClean="0"/>
              <a:t>surface</a:t>
            </a:r>
            <a:r>
              <a:rPr lang="tr-TR" sz="2400" dirty="0" smtClean="0"/>
              <a:t> </a:t>
            </a:r>
            <a:r>
              <a:rPr lang="tr-TR" sz="2400" dirty="0" err="1" smtClean="0"/>
              <a:t>that</a:t>
            </a:r>
            <a:r>
              <a:rPr lang="tr-TR" sz="2400" dirty="0" smtClean="0"/>
              <a:t> </a:t>
            </a:r>
            <a:r>
              <a:rPr lang="tr-TR" sz="2400" dirty="0" err="1" smtClean="0"/>
              <a:t>direct</a:t>
            </a:r>
            <a:r>
              <a:rPr lang="tr-TR" sz="2400" dirty="0" smtClean="0"/>
              <a:t> </a:t>
            </a:r>
            <a:r>
              <a:rPr lang="tr-TR" sz="2400" dirty="0" err="1" smtClean="0"/>
              <a:t>contact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film </a:t>
            </a:r>
            <a:r>
              <a:rPr lang="tr-TR" sz="2400" dirty="0" err="1" smtClean="0"/>
              <a:t>adhesive</a:t>
            </a:r>
            <a:endParaRPr lang="tr-TR" sz="2400" dirty="0" smtClean="0"/>
          </a:p>
          <a:p>
            <a:pPr marL="0" indent="0">
              <a:buNone/>
            </a:pPr>
            <a:r>
              <a:rPr lang="tr-TR" sz="2400" u="sng" dirty="0" smtClean="0"/>
              <a:t>2.6 Optical </a:t>
            </a:r>
            <a:r>
              <a:rPr lang="tr-TR" sz="2400" u="sng" dirty="0" err="1" smtClean="0"/>
              <a:t>Emission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Spectroscopy</a:t>
            </a:r>
            <a:endParaRPr lang="tr-TR" sz="2400" u="sng" dirty="0" smtClean="0"/>
          </a:p>
          <a:p>
            <a:r>
              <a:rPr lang="tr-TR" sz="2400" dirty="0" err="1" smtClean="0"/>
              <a:t>To</a:t>
            </a:r>
            <a:r>
              <a:rPr lang="tr-TR" sz="2400" dirty="0" smtClean="0"/>
              <a:t> </a:t>
            </a:r>
            <a:r>
              <a:rPr lang="tr-TR" sz="2400" dirty="0" err="1" smtClean="0"/>
              <a:t>analyze</a:t>
            </a:r>
            <a:r>
              <a:rPr lang="tr-TR" sz="2400" dirty="0" smtClean="0"/>
              <a:t> </a:t>
            </a:r>
            <a:r>
              <a:rPr lang="tr-TR" sz="2400" dirty="0" err="1" smtClean="0"/>
              <a:t>plasma</a:t>
            </a:r>
            <a:r>
              <a:rPr lang="tr-TR" sz="2400" dirty="0" smtClean="0"/>
              <a:t> </a:t>
            </a:r>
            <a:r>
              <a:rPr lang="tr-TR" sz="2400" dirty="0" err="1" smtClean="0"/>
              <a:t>content</a:t>
            </a:r>
            <a:endParaRPr lang="tr-TR" sz="2400" dirty="0" smtClean="0"/>
          </a:p>
          <a:p>
            <a:r>
              <a:rPr lang="tr-TR" sz="2400" dirty="0" err="1" smtClean="0"/>
              <a:t>Always</a:t>
            </a:r>
            <a:r>
              <a:rPr lang="tr-TR" sz="2400" dirty="0" smtClean="0"/>
              <a:t> N2 </a:t>
            </a:r>
            <a:r>
              <a:rPr lang="tr-TR" sz="2400" dirty="0" err="1" smtClean="0"/>
              <a:t>peaks</a:t>
            </a:r>
            <a:r>
              <a:rPr lang="tr-TR" sz="2400" dirty="0" smtClean="0"/>
              <a:t> in </a:t>
            </a:r>
            <a:r>
              <a:rPr lang="tr-TR" sz="2400" dirty="0" err="1" smtClean="0"/>
              <a:t>spectrum</a:t>
            </a:r>
            <a:r>
              <a:rPr lang="tr-TR" sz="2400" dirty="0" smtClean="0"/>
              <a:t>(</a:t>
            </a:r>
            <a:r>
              <a:rPr lang="tr-TR" sz="2400" dirty="0" err="1" smtClean="0"/>
              <a:t>diffusion</a:t>
            </a:r>
            <a:r>
              <a:rPr lang="tr-TR" sz="2400" dirty="0" smtClean="0"/>
              <a:t>  of </a:t>
            </a:r>
            <a:r>
              <a:rPr lang="tr-TR" sz="2400" dirty="0" err="1" smtClean="0"/>
              <a:t>air</a:t>
            </a:r>
            <a:r>
              <a:rPr lang="tr-TR" sz="2400" dirty="0" smtClean="0"/>
              <a:t> </a:t>
            </a:r>
            <a:r>
              <a:rPr lang="tr-TR" sz="2400" dirty="0" err="1" smtClean="0"/>
              <a:t>into</a:t>
            </a:r>
            <a:r>
              <a:rPr lang="tr-TR" sz="2400" dirty="0" smtClean="0"/>
              <a:t> </a:t>
            </a:r>
            <a:r>
              <a:rPr lang="tr-TR" sz="2400" dirty="0" err="1" smtClean="0"/>
              <a:t>plasma</a:t>
            </a:r>
            <a:r>
              <a:rPr lang="tr-TR" sz="2400" dirty="0" smtClean="0"/>
              <a:t>)</a:t>
            </a:r>
          </a:p>
          <a:p>
            <a:r>
              <a:rPr lang="tr-TR" sz="2400" dirty="0" smtClean="0"/>
              <a:t>He/O2 </a:t>
            </a:r>
            <a:r>
              <a:rPr lang="tr-TR" sz="2400" dirty="0" err="1" smtClean="0"/>
              <a:t>leads</a:t>
            </a:r>
            <a:r>
              <a:rPr lang="tr-TR" sz="2400" dirty="0" smtClean="0"/>
              <a:t> </a:t>
            </a:r>
            <a:r>
              <a:rPr lang="tr-TR" sz="2400" dirty="0" err="1" smtClean="0"/>
              <a:t>more</a:t>
            </a:r>
            <a:r>
              <a:rPr lang="tr-TR" sz="2400" dirty="0" smtClean="0"/>
              <a:t> </a:t>
            </a:r>
            <a:r>
              <a:rPr lang="tr-TR" sz="2400" dirty="0" err="1" smtClean="0"/>
              <a:t>interaction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</a:t>
            </a:r>
            <a:r>
              <a:rPr lang="tr-TR" sz="2400" dirty="0" err="1" smtClean="0"/>
              <a:t>prepreg</a:t>
            </a:r>
            <a:r>
              <a:rPr lang="tr-TR" sz="2400" dirty="0" smtClean="0"/>
              <a:t> </a:t>
            </a:r>
            <a:r>
              <a:rPr lang="tr-TR" sz="2400" dirty="0" smtClean="0">
                <a:sym typeface="Wingdings" panose="05000000000000000000" pitchFamily="2" charset="2"/>
              </a:rPr>
              <a:t> </a:t>
            </a:r>
            <a:r>
              <a:rPr lang="tr-TR" sz="2400" dirty="0" err="1" smtClean="0">
                <a:sym typeface="Wingdings" panose="05000000000000000000" pitchFamily="2" charset="2"/>
              </a:rPr>
              <a:t>higher</a:t>
            </a:r>
            <a:r>
              <a:rPr lang="tr-TR" sz="2400" dirty="0" smtClean="0">
                <a:sym typeface="Wingdings" panose="05000000000000000000" pitchFamily="2" charset="2"/>
              </a:rPr>
              <a:t> </a:t>
            </a:r>
            <a:r>
              <a:rPr lang="tr-TR" sz="2400" dirty="0" err="1" smtClean="0">
                <a:sym typeface="Wingdings" panose="05000000000000000000" pitchFamily="2" charset="2"/>
              </a:rPr>
              <a:t>surface</a:t>
            </a:r>
            <a:r>
              <a:rPr lang="tr-TR" sz="2400" dirty="0" smtClean="0">
                <a:sym typeface="Wingdings" panose="05000000000000000000" pitchFamily="2" charset="2"/>
              </a:rPr>
              <a:t> </a:t>
            </a:r>
            <a:r>
              <a:rPr lang="tr-TR" sz="2400" dirty="0" err="1" smtClean="0">
                <a:sym typeface="Wingdings" panose="05000000000000000000" pitchFamily="2" charset="2"/>
              </a:rPr>
              <a:t>energy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xmlns="" val="139305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u="sng" dirty="0" smtClean="0"/>
              <a:t>2.6 X-Ray </a:t>
            </a:r>
            <a:r>
              <a:rPr lang="tr-TR" u="sng" dirty="0" err="1" smtClean="0"/>
              <a:t>Photoelectron</a:t>
            </a:r>
            <a:r>
              <a:rPr lang="tr-TR" u="sng" dirty="0" smtClean="0"/>
              <a:t> </a:t>
            </a:r>
            <a:r>
              <a:rPr lang="tr-TR" u="sng" dirty="0" err="1" smtClean="0"/>
              <a:t>Spectroscopy</a:t>
            </a:r>
            <a:endParaRPr lang="tr-TR" u="sng" dirty="0" smtClean="0"/>
          </a:p>
          <a:p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study</a:t>
            </a:r>
            <a:r>
              <a:rPr lang="tr-TR" dirty="0" smtClean="0"/>
              <a:t> </a:t>
            </a:r>
            <a:r>
              <a:rPr lang="tr-TR" dirty="0" err="1" smtClean="0"/>
              <a:t>chemical</a:t>
            </a:r>
            <a:r>
              <a:rPr lang="tr-TR" dirty="0" smtClean="0"/>
              <a:t> </a:t>
            </a:r>
            <a:r>
              <a:rPr lang="tr-TR" dirty="0" err="1" smtClean="0"/>
              <a:t>composition</a:t>
            </a:r>
            <a:r>
              <a:rPr lang="tr-TR" dirty="0" smtClean="0"/>
              <a:t> of </a:t>
            </a:r>
            <a:r>
              <a:rPr lang="tr-TR" dirty="0" err="1" smtClean="0"/>
              <a:t>treated</a:t>
            </a:r>
            <a:r>
              <a:rPr lang="tr-TR" dirty="0" smtClean="0"/>
              <a:t> </a:t>
            </a:r>
            <a:r>
              <a:rPr lang="tr-TR" dirty="0" err="1" smtClean="0"/>
              <a:t>surfaces</a:t>
            </a:r>
            <a:endParaRPr lang="tr-TR" dirty="0" smtClean="0"/>
          </a:p>
          <a:p>
            <a:r>
              <a:rPr lang="tr-TR" dirty="0" err="1" smtClean="0"/>
              <a:t>Mean</a:t>
            </a:r>
            <a:r>
              <a:rPr lang="tr-TR" dirty="0" smtClean="0"/>
              <a:t> of 3 </a:t>
            </a:r>
            <a:r>
              <a:rPr lang="tr-TR" dirty="0" err="1" smtClean="0"/>
              <a:t>measurement</a:t>
            </a:r>
            <a:r>
              <a:rPr lang="tr-TR" dirty="0" smtClean="0"/>
              <a:t> on </a:t>
            </a:r>
            <a:r>
              <a:rPr lang="tr-TR" dirty="0" err="1" smtClean="0"/>
              <a:t>different</a:t>
            </a:r>
            <a:r>
              <a:rPr lang="tr-TR" dirty="0" smtClean="0"/>
              <a:t> </a:t>
            </a:r>
            <a:r>
              <a:rPr lang="tr-TR" dirty="0" err="1" smtClean="0"/>
              <a:t>spots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156183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3 </a:t>
            </a:r>
            <a:r>
              <a:rPr lang="tr-TR" dirty="0" err="1" smtClean="0"/>
              <a:t>Result&amp;Discussion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tr-TR" sz="2400" u="sng" dirty="0" smtClean="0"/>
              <a:t>3.1 </a:t>
            </a:r>
            <a:r>
              <a:rPr lang="tr-TR" sz="2400" u="sng" dirty="0" err="1" smtClean="0"/>
              <a:t>Surface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Energy</a:t>
            </a:r>
            <a:r>
              <a:rPr lang="tr-TR" sz="2400" u="sng" dirty="0" smtClean="0"/>
              <a:t> Analysis</a:t>
            </a:r>
          </a:p>
          <a:p>
            <a:pPr marL="0" indent="0">
              <a:buNone/>
            </a:pPr>
            <a:r>
              <a:rPr lang="tr-TR" sz="2400" dirty="0" smtClean="0"/>
              <a:t>Three </a:t>
            </a:r>
            <a:r>
              <a:rPr lang="tr-TR" sz="2400" dirty="0" err="1"/>
              <a:t>g</a:t>
            </a:r>
            <a:r>
              <a:rPr lang="tr-TR" sz="2400" dirty="0" err="1" smtClean="0"/>
              <a:t>as</a:t>
            </a:r>
            <a:r>
              <a:rPr lang="tr-TR" sz="2400" dirty="0" smtClean="0"/>
              <a:t> </a:t>
            </a:r>
            <a:r>
              <a:rPr lang="tr-TR" sz="2400" dirty="0" err="1" smtClean="0"/>
              <a:t>mixtures</a:t>
            </a:r>
            <a:r>
              <a:rPr lang="tr-TR" sz="2400" dirty="0" smtClean="0"/>
              <a:t>:</a:t>
            </a:r>
          </a:p>
          <a:p>
            <a:pPr lvl="1"/>
            <a:r>
              <a:rPr lang="tr-TR" dirty="0" smtClean="0"/>
              <a:t>He</a:t>
            </a:r>
          </a:p>
          <a:p>
            <a:pPr lvl="1"/>
            <a:r>
              <a:rPr lang="tr-TR" dirty="0" smtClean="0"/>
              <a:t>He/N2</a:t>
            </a:r>
          </a:p>
          <a:p>
            <a:pPr lvl="1"/>
            <a:r>
              <a:rPr lang="tr-TR" dirty="0" smtClean="0"/>
              <a:t>He/O2</a:t>
            </a:r>
            <a:endParaRPr lang="tr-TR" sz="2400" dirty="0"/>
          </a:p>
          <a:p>
            <a:pPr marL="0" indent="0">
              <a:buNone/>
            </a:pPr>
            <a:r>
              <a:rPr lang="tr-TR" sz="2400" dirty="0" err="1" smtClean="0"/>
              <a:t>Power</a:t>
            </a:r>
            <a:r>
              <a:rPr lang="tr-TR" sz="2400" dirty="0" smtClean="0"/>
              <a:t> is </a:t>
            </a:r>
            <a:r>
              <a:rPr lang="tr-TR" sz="2400" dirty="0" err="1" smtClean="0"/>
              <a:t>fixed</a:t>
            </a:r>
            <a:r>
              <a:rPr lang="tr-TR" sz="2400" dirty="0" smtClean="0"/>
              <a:t> at 1200W</a:t>
            </a:r>
          </a:p>
          <a:p>
            <a:pPr marL="0" indent="0">
              <a:buNone/>
            </a:pPr>
            <a:r>
              <a:rPr lang="tr-TR" sz="2400" dirty="0" err="1" smtClean="0"/>
              <a:t>Maintained</a:t>
            </a:r>
            <a:r>
              <a:rPr lang="tr-TR" sz="2400" dirty="0" smtClean="0"/>
              <a:t> at 10L/</a:t>
            </a:r>
            <a:r>
              <a:rPr lang="tr-TR" sz="2400" dirty="0" err="1" smtClean="0"/>
              <a:t>min</a:t>
            </a:r>
            <a:endParaRPr lang="tr-TR" sz="2400" dirty="0" smtClean="0"/>
          </a:p>
          <a:p>
            <a:pPr marL="0" indent="0">
              <a:buNone/>
            </a:pPr>
            <a:r>
              <a:rPr lang="tr-TR" sz="2400" dirty="0" err="1" smtClean="0"/>
              <a:t>Energy</a:t>
            </a:r>
            <a:r>
              <a:rPr lang="tr-TR" sz="2400" dirty="0" smtClean="0"/>
              <a:t> is </a:t>
            </a:r>
            <a:r>
              <a:rPr lang="tr-TR" sz="2400" dirty="0" err="1" smtClean="0"/>
              <a:t>measured</a:t>
            </a:r>
            <a:r>
              <a:rPr lang="tr-TR" sz="2400" dirty="0" smtClean="0"/>
              <a:t> </a:t>
            </a:r>
            <a:r>
              <a:rPr lang="tr-TR" sz="2400" dirty="0" err="1" smtClean="0"/>
              <a:t>after</a:t>
            </a:r>
            <a:r>
              <a:rPr lang="tr-TR" sz="2400" dirty="0" smtClean="0"/>
              <a:t> 2hrs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endParaRPr lang="tr-TR" sz="2400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xmlns="" val="12103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u="sng" dirty="0" smtClean="0"/>
              <a:t>3.2 </a:t>
            </a:r>
            <a:r>
              <a:rPr lang="tr-TR" u="sng" dirty="0" err="1" smtClean="0"/>
              <a:t>Mode</a:t>
            </a:r>
            <a:r>
              <a:rPr lang="tr-TR" u="sng" dirty="0" smtClean="0"/>
              <a:t> I </a:t>
            </a:r>
            <a:r>
              <a:rPr lang="tr-TR" u="sng" dirty="0" err="1" smtClean="0"/>
              <a:t>Fracture</a:t>
            </a:r>
            <a:r>
              <a:rPr lang="tr-TR" u="sng" dirty="0" smtClean="0"/>
              <a:t> </a:t>
            </a:r>
            <a:r>
              <a:rPr lang="tr-TR" u="sng" dirty="0" err="1" smtClean="0"/>
              <a:t>Toughness</a:t>
            </a:r>
            <a:endParaRPr lang="tr-TR" u="sng" dirty="0" smtClean="0"/>
          </a:p>
          <a:p>
            <a:r>
              <a:rPr lang="tr-TR" dirty="0" smtClean="0"/>
              <a:t>He/O2 </a:t>
            </a:r>
            <a:r>
              <a:rPr lang="tr-TR" dirty="0" err="1" smtClean="0"/>
              <a:t>treatment</a:t>
            </a:r>
            <a:r>
              <a:rPr lang="tr-TR" dirty="0" smtClean="0"/>
              <a:t> at 1600W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xmlns="" val="228425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u="sng" dirty="0" smtClean="0"/>
              <a:t>3.3 XPS Analysis</a:t>
            </a:r>
          </a:p>
          <a:p>
            <a:r>
              <a:rPr lang="tr-TR" dirty="0" err="1" smtClean="0"/>
              <a:t>Samples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treated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He/O2 at 1250W </a:t>
            </a:r>
            <a:r>
              <a:rPr lang="tr-TR" dirty="0" err="1" smtClean="0"/>
              <a:t>for</a:t>
            </a:r>
            <a:r>
              <a:rPr lang="tr-TR" dirty="0" smtClean="0"/>
              <a:t> 5 </a:t>
            </a:r>
            <a:r>
              <a:rPr lang="tr-TR" dirty="0" err="1" smtClean="0"/>
              <a:t>phase</a:t>
            </a:r>
            <a:endParaRPr lang="tr-TR" dirty="0" smtClean="0"/>
          </a:p>
          <a:p>
            <a:r>
              <a:rPr lang="tr-TR" dirty="0" err="1" smtClean="0"/>
              <a:t>The</a:t>
            </a:r>
            <a:r>
              <a:rPr lang="tr-TR" dirty="0" smtClean="0"/>
              <a:t> presence of </a:t>
            </a:r>
            <a:r>
              <a:rPr lang="tr-TR" dirty="0" err="1" smtClean="0"/>
              <a:t>sulphur</a:t>
            </a:r>
            <a:r>
              <a:rPr lang="tr-TR" dirty="0" smtClean="0"/>
              <a:t> (</a:t>
            </a:r>
            <a:r>
              <a:rPr lang="tr-TR" dirty="0" err="1" smtClean="0"/>
              <a:t>thermoplastic</a:t>
            </a:r>
            <a:r>
              <a:rPr lang="tr-TR" dirty="0" smtClean="0"/>
              <a:t> </a:t>
            </a:r>
            <a:r>
              <a:rPr lang="tr-TR" dirty="0" err="1" smtClean="0"/>
              <a:t>toughening</a:t>
            </a:r>
            <a:r>
              <a:rPr lang="tr-TR" dirty="0" smtClean="0"/>
              <a:t> </a:t>
            </a:r>
            <a:r>
              <a:rPr lang="tr-TR" dirty="0" err="1" smtClean="0"/>
              <a:t>agent</a:t>
            </a:r>
            <a:r>
              <a:rPr lang="tr-TR" dirty="0" smtClean="0"/>
              <a:t> </a:t>
            </a:r>
            <a:r>
              <a:rPr lang="tr-TR" dirty="0" err="1" smtClean="0"/>
              <a:t>or</a:t>
            </a:r>
            <a:r>
              <a:rPr lang="tr-TR" dirty="0" smtClean="0"/>
              <a:t> </a:t>
            </a:r>
            <a:r>
              <a:rPr lang="tr-TR" dirty="0" err="1" smtClean="0"/>
              <a:t>agent</a:t>
            </a:r>
            <a:r>
              <a:rPr lang="tr-TR" dirty="0" smtClean="0"/>
              <a:t> in </a:t>
            </a:r>
            <a:r>
              <a:rPr lang="tr-TR" dirty="0" err="1" smtClean="0"/>
              <a:t>resin</a:t>
            </a:r>
            <a:r>
              <a:rPr lang="tr-TR" dirty="0" smtClean="0"/>
              <a:t>)</a:t>
            </a:r>
          </a:p>
          <a:p>
            <a:r>
              <a:rPr lang="tr-TR" dirty="0" err="1" smtClean="0"/>
              <a:t>Silicon</a:t>
            </a:r>
            <a:r>
              <a:rPr lang="tr-TR" dirty="0" smtClean="0"/>
              <a:t> </a:t>
            </a:r>
            <a:r>
              <a:rPr lang="tr-TR" dirty="0" err="1" smtClean="0"/>
              <a:t>concentration</a:t>
            </a:r>
            <a:r>
              <a:rPr lang="tr-TR" dirty="0" smtClean="0"/>
              <a:t> is in </a:t>
            </a:r>
            <a:r>
              <a:rPr lang="tr-TR" dirty="0" err="1" smtClean="0"/>
              <a:t>decrease</a:t>
            </a:r>
            <a:r>
              <a:rPr lang="tr-TR" dirty="0" smtClean="0"/>
              <a:t>(</a:t>
            </a:r>
            <a:r>
              <a:rPr lang="tr-TR" dirty="0" err="1" smtClean="0"/>
              <a:t>contamination</a:t>
            </a:r>
            <a:r>
              <a:rPr lang="tr-TR" dirty="0" smtClean="0"/>
              <a:t>)</a:t>
            </a:r>
          </a:p>
          <a:p>
            <a:pPr marL="0" indent="0">
              <a:buNone/>
            </a:pPr>
            <a:r>
              <a:rPr lang="tr-TR" u="sng" dirty="0" smtClean="0"/>
              <a:t>3.4 </a:t>
            </a:r>
            <a:r>
              <a:rPr lang="tr-TR" u="sng" dirty="0" err="1" smtClean="0"/>
              <a:t>Microscopy</a:t>
            </a:r>
            <a:r>
              <a:rPr lang="tr-TR" u="sng" dirty="0" smtClean="0"/>
              <a:t> </a:t>
            </a:r>
            <a:r>
              <a:rPr lang="tr-TR" u="sng" dirty="0" err="1" smtClean="0"/>
              <a:t>and</a:t>
            </a:r>
            <a:r>
              <a:rPr lang="tr-TR" u="sng" dirty="0" smtClean="0"/>
              <a:t> </a:t>
            </a:r>
            <a:r>
              <a:rPr lang="tr-TR" u="sng" dirty="0" err="1" smtClean="0"/>
              <a:t>Thermal</a:t>
            </a:r>
            <a:r>
              <a:rPr lang="tr-TR" u="sng" dirty="0" smtClean="0"/>
              <a:t> Analysis</a:t>
            </a:r>
          </a:p>
          <a:p>
            <a:r>
              <a:rPr lang="tr-TR" u="sng" dirty="0" err="1" smtClean="0"/>
              <a:t>Long</a:t>
            </a:r>
            <a:r>
              <a:rPr lang="tr-TR" u="sng" dirty="0" smtClean="0"/>
              <a:t> </a:t>
            </a:r>
            <a:r>
              <a:rPr lang="tr-TR" u="sng" dirty="0" err="1" smtClean="0"/>
              <a:t>treatment</a:t>
            </a:r>
            <a:r>
              <a:rPr lang="tr-TR" u="sng" dirty="0" smtClean="0"/>
              <a:t> </a:t>
            </a:r>
            <a:r>
              <a:rPr lang="tr-TR" u="sng" dirty="0" smtClean="0">
                <a:sym typeface="Wingdings" panose="05000000000000000000" pitchFamily="2" charset="2"/>
              </a:rPr>
              <a:t> </a:t>
            </a:r>
            <a:r>
              <a:rPr lang="tr-TR" u="sng" dirty="0" err="1" smtClean="0">
                <a:sym typeface="Wingdings" panose="05000000000000000000" pitchFamily="2" charset="2"/>
              </a:rPr>
              <a:t>reduced</a:t>
            </a:r>
            <a:r>
              <a:rPr lang="tr-TR" u="sng" dirty="0" smtClean="0">
                <a:sym typeface="Wingdings" panose="05000000000000000000" pitchFamily="2" charset="2"/>
              </a:rPr>
              <a:t> </a:t>
            </a:r>
            <a:r>
              <a:rPr lang="tr-TR" u="sng" dirty="0" err="1" smtClean="0">
                <a:sym typeface="Wingdings" panose="05000000000000000000" pitchFamily="2" charset="2"/>
              </a:rPr>
              <a:t>fracture</a:t>
            </a:r>
            <a:r>
              <a:rPr lang="tr-TR" u="sng" dirty="0" smtClean="0">
                <a:sym typeface="Wingdings" panose="05000000000000000000" pitchFamily="2" charset="2"/>
              </a:rPr>
              <a:t> </a:t>
            </a:r>
            <a:r>
              <a:rPr lang="tr-TR" u="sng" dirty="0" err="1" smtClean="0">
                <a:sym typeface="Wingdings" panose="05000000000000000000" pitchFamily="2" charset="2"/>
              </a:rPr>
              <a:t>tougness</a:t>
            </a:r>
            <a:r>
              <a:rPr lang="tr-TR" u="sng" dirty="0" smtClean="0">
                <a:sym typeface="Wingdings" panose="05000000000000000000" pitchFamily="2" charset="2"/>
              </a:rPr>
              <a:t> in </a:t>
            </a:r>
            <a:r>
              <a:rPr lang="tr-TR" u="sng" dirty="0" err="1" smtClean="0">
                <a:sym typeface="Wingdings" panose="05000000000000000000" pitchFamily="2" charset="2"/>
              </a:rPr>
              <a:t>co-cured</a:t>
            </a:r>
            <a:r>
              <a:rPr lang="tr-TR" u="sng" dirty="0" smtClean="0">
                <a:sym typeface="Wingdings" panose="05000000000000000000" pitchFamily="2" charset="2"/>
              </a:rPr>
              <a:t> </a:t>
            </a:r>
            <a:r>
              <a:rPr lang="tr-TR" u="sng" dirty="0" err="1" smtClean="0">
                <a:sym typeface="Wingdings" panose="05000000000000000000" pitchFamily="2" charset="2"/>
              </a:rPr>
              <a:t>joints</a:t>
            </a:r>
            <a:endParaRPr lang="tr-TR" u="sng" dirty="0" smtClean="0">
              <a:sym typeface="Wingdings" panose="05000000000000000000" pitchFamily="2" charset="2"/>
            </a:endParaRPr>
          </a:p>
          <a:p>
            <a:r>
              <a:rPr lang="tr-TR" u="sng" dirty="0" smtClean="0">
                <a:sym typeface="Wingdings" panose="05000000000000000000" pitchFamily="2" charset="2"/>
              </a:rPr>
              <a:t>????</a:t>
            </a:r>
            <a:endParaRPr lang="tr-TR" u="sng" dirty="0"/>
          </a:p>
        </p:txBody>
      </p:sp>
    </p:spTree>
    <p:extLst>
      <p:ext uri="{BB962C8B-B14F-4D97-AF65-F5344CB8AC3E}">
        <p14:creationId xmlns:p14="http://schemas.microsoft.com/office/powerpoint/2010/main" xmlns="" val="3167903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4 </a:t>
            </a:r>
            <a:r>
              <a:rPr lang="tr-TR" dirty="0" err="1" smtClean="0"/>
              <a:t>Conclusion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He/O2 </a:t>
            </a:r>
            <a:r>
              <a:rPr lang="tr-TR" dirty="0" err="1" smtClean="0"/>
              <a:t>treatment</a:t>
            </a:r>
            <a:r>
              <a:rPr lang="tr-TR" dirty="0" smtClean="0"/>
              <a:t> is </a:t>
            </a:r>
            <a:r>
              <a:rPr lang="tr-TR" dirty="0" err="1" smtClean="0"/>
              <a:t>effective</a:t>
            </a:r>
            <a:r>
              <a:rPr lang="tr-TR" dirty="0" smtClean="0"/>
              <a:t> in </a:t>
            </a:r>
            <a:r>
              <a:rPr lang="tr-TR" dirty="0" err="1" smtClean="0"/>
              <a:t>increasing</a:t>
            </a:r>
            <a:r>
              <a:rPr lang="tr-TR" dirty="0" smtClean="0"/>
              <a:t> </a:t>
            </a:r>
            <a:r>
              <a:rPr lang="tr-TR" dirty="0" err="1" smtClean="0"/>
              <a:t>surface</a:t>
            </a:r>
            <a:r>
              <a:rPr lang="tr-TR" dirty="0" smtClean="0"/>
              <a:t> </a:t>
            </a:r>
            <a:r>
              <a:rPr lang="tr-TR" dirty="0" err="1" smtClean="0"/>
              <a:t>energy</a:t>
            </a:r>
            <a:r>
              <a:rPr lang="tr-TR" dirty="0" smtClean="0"/>
              <a:t> of </a:t>
            </a:r>
            <a:r>
              <a:rPr lang="tr-TR" dirty="0" err="1" smtClean="0"/>
              <a:t>prepreg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r>
              <a:rPr lang="tr-TR" dirty="0" smtClean="0"/>
              <a:t>He </a:t>
            </a:r>
            <a:r>
              <a:rPr lang="tr-TR" dirty="0" err="1" smtClean="0"/>
              <a:t>and</a:t>
            </a:r>
            <a:r>
              <a:rPr lang="tr-TR" dirty="0" smtClean="0"/>
              <a:t> He/N2 is </a:t>
            </a:r>
            <a:r>
              <a:rPr lang="tr-TR" dirty="0" err="1" smtClean="0"/>
              <a:t>very</a:t>
            </a:r>
            <a:r>
              <a:rPr lang="tr-TR" dirty="0" smtClean="0"/>
              <a:t> </a:t>
            </a:r>
            <a:r>
              <a:rPr lang="tr-TR" dirty="0" err="1" smtClean="0"/>
              <a:t>inefficient</a:t>
            </a:r>
            <a:r>
              <a:rPr lang="tr-TR" dirty="0" smtClean="0"/>
              <a:t> in </a:t>
            </a:r>
            <a:r>
              <a:rPr lang="tr-TR" dirty="0" err="1" smtClean="0"/>
              <a:t>increasing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surface</a:t>
            </a:r>
            <a:r>
              <a:rPr lang="tr-TR" dirty="0" smtClean="0"/>
              <a:t> </a:t>
            </a:r>
            <a:r>
              <a:rPr lang="tr-TR" dirty="0" err="1" smtClean="0"/>
              <a:t>energy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r>
              <a:rPr lang="tr-TR" dirty="0" err="1" smtClean="0"/>
              <a:t>Excessive</a:t>
            </a:r>
            <a:r>
              <a:rPr lang="tr-TR" dirty="0" smtClean="0"/>
              <a:t> </a:t>
            </a:r>
            <a:r>
              <a:rPr lang="tr-TR" dirty="0" err="1" smtClean="0"/>
              <a:t>treatments</a:t>
            </a:r>
            <a:r>
              <a:rPr lang="tr-TR" dirty="0" smtClean="0"/>
              <a:t> </a:t>
            </a:r>
            <a:r>
              <a:rPr lang="tr-TR" dirty="0" err="1" smtClean="0"/>
              <a:t>leads</a:t>
            </a:r>
            <a:r>
              <a:rPr lang="tr-TR" dirty="0" smtClean="0"/>
              <a:t> severe </a:t>
            </a:r>
            <a:r>
              <a:rPr lang="tr-TR" dirty="0" err="1" smtClean="0"/>
              <a:t>degradation</a:t>
            </a:r>
            <a:r>
              <a:rPr lang="tr-TR" dirty="0" smtClean="0"/>
              <a:t> in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performance</a:t>
            </a:r>
            <a:r>
              <a:rPr lang="tr-TR" dirty="0" smtClean="0"/>
              <a:t> </a:t>
            </a:r>
            <a:r>
              <a:rPr lang="tr-TR" dirty="0" err="1" smtClean="0"/>
              <a:t>under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 I.</a:t>
            </a:r>
          </a:p>
          <a:p>
            <a:endParaRPr lang="tr-TR" dirty="0"/>
          </a:p>
          <a:p>
            <a:r>
              <a:rPr lang="tr-TR" dirty="0" err="1" smtClean="0"/>
              <a:t>Highly</a:t>
            </a:r>
            <a:r>
              <a:rPr lang="tr-TR" dirty="0" smtClean="0"/>
              <a:t> polar </a:t>
            </a:r>
            <a:r>
              <a:rPr lang="tr-TR" dirty="0" err="1" smtClean="0"/>
              <a:t>surface</a:t>
            </a:r>
            <a:r>
              <a:rPr lang="tr-TR" dirty="0" smtClean="0"/>
              <a:t> </a:t>
            </a:r>
            <a:r>
              <a:rPr lang="tr-TR" dirty="0" err="1" smtClean="0"/>
              <a:t>attracts</a:t>
            </a:r>
            <a:r>
              <a:rPr lang="tr-TR" dirty="0" smtClean="0"/>
              <a:t> </a:t>
            </a:r>
            <a:r>
              <a:rPr lang="tr-TR" dirty="0" err="1" smtClean="0"/>
              <a:t>moisture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interface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 err="1" smtClean="0"/>
              <a:t>Long</a:t>
            </a:r>
            <a:r>
              <a:rPr lang="tr-TR" dirty="0" smtClean="0"/>
              <a:t> </a:t>
            </a:r>
            <a:r>
              <a:rPr lang="tr-TR" dirty="0" err="1" smtClean="0"/>
              <a:t>plasma</a:t>
            </a:r>
            <a:r>
              <a:rPr lang="tr-TR" dirty="0" smtClean="0"/>
              <a:t> </a:t>
            </a:r>
            <a:r>
              <a:rPr lang="tr-TR" dirty="0" err="1" smtClean="0"/>
              <a:t>treatment</a:t>
            </a:r>
            <a:r>
              <a:rPr lang="tr-TR" dirty="0" smtClean="0"/>
              <a:t> </a:t>
            </a:r>
            <a:r>
              <a:rPr lang="tr-TR" dirty="0" err="1" smtClean="0"/>
              <a:t>causes</a:t>
            </a:r>
            <a:r>
              <a:rPr lang="tr-TR" dirty="0" smtClean="0"/>
              <a:t> </a:t>
            </a:r>
            <a:r>
              <a:rPr lang="tr-TR" dirty="0" err="1" smtClean="0"/>
              <a:t>pitting</a:t>
            </a:r>
            <a:r>
              <a:rPr lang="tr-TR" dirty="0"/>
              <a:t> </a:t>
            </a:r>
            <a:r>
              <a:rPr lang="tr-TR" dirty="0" smtClean="0">
                <a:sym typeface="Wingdings" panose="05000000000000000000" pitchFamily="2" charset="2"/>
              </a:rPr>
              <a:t></a:t>
            </a:r>
            <a:r>
              <a:rPr lang="tr-TR" dirty="0" err="1" smtClean="0">
                <a:sym typeface="Wingdings" panose="05000000000000000000" pitchFamily="2" charset="2"/>
              </a:rPr>
              <a:t>reduction</a:t>
            </a:r>
            <a:r>
              <a:rPr lang="tr-TR" dirty="0" smtClean="0">
                <a:sym typeface="Wingdings" panose="05000000000000000000" pitchFamily="2" charset="2"/>
              </a:rPr>
              <a:t> in </a:t>
            </a:r>
            <a:r>
              <a:rPr lang="tr-TR" dirty="0" err="1" smtClean="0">
                <a:sym typeface="Wingdings" panose="05000000000000000000" pitchFamily="2" charset="2"/>
              </a:rPr>
              <a:t>fracture</a:t>
            </a:r>
            <a:r>
              <a:rPr lang="tr-TR" dirty="0" smtClean="0">
                <a:sym typeface="Wingdings" panose="05000000000000000000" pitchFamily="2" charset="2"/>
              </a:rPr>
              <a:t> </a:t>
            </a:r>
            <a:r>
              <a:rPr lang="tr-TR" dirty="0" err="1" smtClean="0">
                <a:sym typeface="Wingdings" panose="05000000000000000000" pitchFamily="2" charset="2"/>
              </a:rPr>
              <a:t>toughness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xmlns="" val="3333918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207899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Mixed</a:t>
            </a:r>
            <a:r>
              <a:rPr lang="en-US" sz="4000" b="1" dirty="0" smtClean="0"/>
              <a:t>-Mode Fracture Toughness of Co-Cured and Secondary Bonded Composite Joints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xmlns="" val="183874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1 </a:t>
            </a:r>
            <a:r>
              <a:rPr lang="tr-TR" dirty="0" err="1" smtClean="0"/>
              <a:t>Introduction</a:t>
            </a:r>
            <a:endParaRPr lang="en-US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 err="1" smtClean="0"/>
              <a:t>Drilling</a:t>
            </a:r>
            <a:r>
              <a:rPr lang="tr-TR" sz="2400" dirty="0" smtClean="0"/>
              <a:t> &amp; </a:t>
            </a:r>
            <a:r>
              <a:rPr lang="tr-TR" sz="2400" dirty="0" err="1" smtClean="0"/>
              <a:t>bolding</a:t>
            </a:r>
            <a:r>
              <a:rPr lang="tr-TR" sz="2400" dirty="0" smtClean="0"/>
              <a:t> </a:t>
            </a:r>
            <a:r>
              <a:rPr lang="tr-TR" sz="2400" dirty="0" err="1" smtClean="0"/>
              <a:t>processes</a:t>
            </a:r>
            <a:r>
              <a:rPr lang="tr-TR" sz="2400" dirty="0" smtClean="0"/>
              <a:t> </a:t>
            </a:r>
            <a:r>
              <a:rPr lang="tr-TR" sz="2400" dirty="0" err="1" smtClean="0"/>
              <a:t>weakens</a:t>
            </a:r>
            <a:r>
              <a:rPr lang="tr-TR" sz="2400" dirty="0" smtClean="0"/>
              <a:t>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composite</a:t>
            </a:r>
            <a:r>
              <a:rPr lang="tr-TR" sz="2400" dirty="0" smtClean="0"/>
              <a:t> </a:t>
            </a:r>
            <a:r>
              <a:rPr lang="tr-TR" sz="2400" dirty="0" err="1" smtClean="0"/>
              <a:t>material</a:t>
            </a:r>
            <a:endParaRPr lang="tr-TR" sz="2400" dirty="0" smtClean="0"/>
          </a:p>
          <a:p>
            <a:pPr>
              <a:buNone/>
            </a:pPr>
            <a:endParaRPr lang="tr-TR" sz="2400" dirty="0" smtClean="0"/>
          </a:p>
          <a:p>
            <a:r>
              <a:rPr lang="tr-TR" sz="2400" dirty="0" err="1" smtClean="0"/>
              <a:t>Superior</a:t>
            </a:r>
            <a:r>
              <a:rPr lang="tr-TR" sz="2400" dirty="0" smtClean="0"/>
              <a:t> </a:t>
            </a:r>
            <a:r>
              <a:rPr lang="tr-TR" sz="2400" dirty="0" err="1" smtClean="0"/>
              <a:t>method</a:t>
            </a:r>
            <a:r>
              <a:rPr lang="tr-TR" sz="2400" dirty="0" smtClean="0"/>
              <a:t> of </a:t>
            </a:r>
            <a:r>
              <a:rPr lang="tr-TR" sz="2400" dirty="0" err="1" smtClean="0"/>
              <a:t>using</a:t>
            </a:r>
            <a:r>
              <a:rPr lang="tr-TR" sz="2400" dirty="0" smtClean="0"/>
              <a:t> </a:t>
            </a:r>
            <a:r>
              <a:rPr lang="tr-TR" sz="2400" dirty="0" err="1" smtClean="0"/>
              <a:t>adhesive</a:t>
            </a:r>
            <a:r>
              <a:rPr lang="tr-TR" sz="2400" dirty="0" smtClean="0"/>
              <a:t> </a:t>
            </a:r>
            <a:r>
              <a:rPr lang="tr-TR" sz="2400" dirty="0" err="1" smtClean="0"/>
              <a:t>may</a:t>
            </a:r>
            <a:r>
              <a:rPr lang="tr-TR" sz="2400" dirty="0" smtClean="0"/>
              <a:t> </a:t>
            </a:r>
            <a:r>
              <a:rPr lang="tr-TR" sz="2400" dirty="0" err="1" smtClean="0"/>
              <a:t>improve</a:t>
            </a:r>
            <a:r>
              <a:rPr lang="tr-TR" sz="2400" dirty="0" smtClean="0"/>
              <a:t> </a:t>
            </a:r>
            <a:r>
              <a:rPr lang="tr-TR" sz="2400" dirty="0" err="1" smtClean="0"/>
              <a:t>stress</a:t>
            </a:r>
            <a:r>
              <a:rPr lang="tr-TR" sz="2400" dirty="0" smtClean="0"/>
              <a:t> </a:t>
            </a:r>
            <a:r>
              <a:rPr lang="tr-TR" sz="2400" dirty="0" err="1" smtClean="0"/>
              <a:t>distribution</a:t>
            </a:r>
            <a:r>
              <a:rPr lang="tr-TR" sz="2400" dirty="0" smtClean="0"/>
              <a:t>.</a:t>
            </a:r>
          </a:p>
          <a:p>
            <a:endParaRPr lang="tr-TR" sz="2400" dirty="0" smtClean="0"/>
          </a:p>
          <a:p>
            <a:r>
              <a:rPr lang="tr-TR" sz="2400" dirty="0" err="1" smtClean="0"/>
              <a:t>Co</a:t>
            </a:r>
            <a:r>
              <a:rPr lang="tr-TR" sz="2400" dirty="0" smtClean="0"/>
              <a:t>-</a:t>
            </a:r>
            <a:r>
              <a:rPr lang="tr-TR" sz="2400" dirty="0" err="1" smtClean="0"/>
              <a:t>cured</a:t>
            </a:r>
            <a:r>
              <a:rPr lang="tr-TR" sz="2400" dirty="0" smtClean="0"/>
              <a:t> </a:t>
            </a:r>
            <a:r>
              <a:rPr lang="tr-TR" sz="2400" dirty="0" err="1" smtClean="0"/>
              <a:t>joints</a:t>
            </a:r>
            <a:r>
              <a:rPr lang="tr-TR" sz="2400" dirty="0" smtClean="0"/>
              <a:t> </a:t>
            </a:r>
            <a:r>
              <a:rPr lang="tr-TR" sz="2400" dirty="0" err="1" smtClean="0"/>
              <a:t>suffer</a:t>
            </a:r>
            <a:r>
              <a:rPr lang="tr-TR" sz="2400" dirty="0" smtClean="0"/>
              <a:t> </a:t>
            </a:r>
            <a:r>
              <a:rPr lang="tr-TR" sz="2400" dirty="0" err="1" smtClean="0"/>
              <a:t>from</a:t>
            </a:r>
            <a:r>
              <a:rPr lang="tr-TR" sz="2400" dirty="0" smtClean="0"/>
              <a:t> </a:t>
            </a:r>
            <a:r>
              <a:rPr lang="tr-TR" sz="2400" dirty="0" err="1" smtClean="0"/>
              <a:t>trapped</a:t>
            </a:r>
            <a:r>
              <a:rPr lang="tr-TR" sz="2400" dirty="0" smtClean="0"/>
              <a:t> </a:t>
            </a:r>
            <a:r>
              <a:rPr lang="tr-TR" sz="2400" dirty="0" err="1" smtClean="0"/>
              <a:t>water</a:t>
            </a:r>
            <a:r>
              <a:rPr lang="tr-TR" sz="2400" dirty="0" smtClean="0"/>
              <a:t> </a:t>
            </a:r>
            <a:r>
              <a:rPr lang="tr-TR" sz="2400" dirty="0" err="1" smtClean="0"/>
              <a:t>inbeing</a:t>
            </a:r>
            <a:r>
              <a:rPr lang="tr-TR" sz="2400" dirty="0" smtClean="0"/>
              <a:t> </a:t>
            </a:r>
            <a:r>
              <a:rPr lang="tr-TR" sz="2400" dirty="0" err="1" smtClean="0"/>
              <a:t>released</a:t>
            </a:r>
            <a:r>
              <a:rPr lang="tr-TR" sz="2400" dirty="0" smtClean="0"/>
              <a:t> </a:t>
            </a:r>
            <a:r>
              <a:rPr lang="tr-TR" sz="2400" dirty="0" err="1" smtClean="0"/>
              <a:t>during</a:t>
            </a:r>
            <a:r>
              <a:rPr lang="tr-TR" sz="2400" dirty="0" smtClean="0"/>
              <a:t>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process</a:t>
            </a:r>
            <a:r>
              <a:rPr lang="tr-TR" sz="2400" dirty="0" smtClean="0"/>
              <a:t>.</a:t>
            </a:r>
          </a:p>
          <a:p>
            <a:pPr lvl="1"/>
            <a:r>
              <a:rPr lang="tr-TR" dirty="0" err="1" smtClean="0"/>
              <a:t>Affects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quality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adhesive</a:t>
            </a:r>
            <a:r>
              <a:rPr lang="tr-TR" dirty="0" smtClean="0"/>
              <a:t> </a:t>
            </a:r>
            <a:r>
              <a:rPr lang="tr-TR" dirty="0" err="1" smtClean="0"/>
              <a:t>joint</a:t>
            </a:r>
            <a:endParaRPr lang="tr-TR" dirty="0" smtClean="0"/>
          </a:p>
          <a:p>
            <a:r>
              <a:rPr lang="tr-TR" sz="2400" dirty="0" smtClean="0"/>
              <a:t>An </a:t>
            </a:r>
            <a:r>
              <a:rPr lang="tr-TR" sz="2400" dirty="0" err="1" smtClean="0"/>
              <a:t>increase</a:t>
            </a:r>
            <a:r>
              <a:rPr lang="tr-TR" sz="2400" dirty="0" smtClean="0"/>
              <a:t> in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Mode</a:t>
            </a:r>
            <a:r>
              <a:rPr lang="tr-TR" sz="2400" dirty="0" smtClean="0"/>
              <a:t> I </a:t>
            </a:r>
            <a:r>
              <a:rPr lang="tr-TR" sz="2400" dirty="0" err="1" smtClean="0"/>
              <a:t>component</a:t>
            </a:r>
            <a:r>
              <a:rPr lang="tr-TR" sz="2400" dirty="0" smtClean="0"/>
              <a:t> </a:t>
            </a:r>
            <a:r>
              <a:rPr lang="tr-TR" sz="2400" dirty="0" err="1" smtClean="0"/>
              <a:t>increases</a:t>
            </a:r>
            <a:r>
              <a:rPr lang="tr-TR" sz="2400" dirty="0" smtClean="0"/>
              <a:t> </a:t>
            </a:r>
            <a:r>
              <a:rPr lang="tr-TR" sz="2400" dirty="0" err="1" smtClean="0"/>
              <a:t>Mode</a:t>
            </a:r>
            <a:r>
              <a:rPr lang="tr-TR" sz="2400" dirty="0" smtClean="0"/>
              <a:t> II </a:t>
            </a:r>
            <a:r>
              <a:rPr lang="tr-TR" sz="2400" dirty="0" err="1" smtClean="0"/>
              <a:t>percentage</a:t>
            </a:r>
            <a:r>
              <a:rPr lang="tr-TR" sz="2400" dirty="0" smtClean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 err="1" smtClean="0"/>
              <a:t>Aims</a:t>
            </a:r>
            <a:r>
              <a:rPr lang="tr-TR" sz="2400" dirty="0" smtClean="0"/>
              <a:t> </a:t>
            </a:r>
            <a:r>
              <a:rPr lang="tr-TR" sz="2400" dirty="0" smtClean="0"/>
              <a:t>is </a:t>
            </a:r>
            <a:r>
              <a:rPr lang="tr-TR" sz="2400" dirty="0" err="1" smtClean="0"/>
              <a:t>to</a:t>
            </a:r>
            <a:r>
              <a:rPr lang="tr-TR" sz="2400" dirty="0" smtClean="0"/>
              <a:t> link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experimentally</a:t>
            </a:r>
            <a:r>
              <a:rPr lang="tr-TR" sz="2400" dirty="0" smtClean="0"/>
              <a:t> </a:t>
            </a:r>
            <a:r>
              <a:rPr lang="tr-TR" sz="2400" dirty="0" err="1" smtClean="0"/>
              <a:t>measured</a:t>
            </a:r>
            <a:r>
              <a:rPr lang="tr-TR" sz="2400" dirty="0" smtClean="0"/>
              <a:t> </a:t>
            </a:r>
            <a:r>
              <a:rPr lang="tr-TR" sz="2400" dirty="0" err="1" smtClean="0"/>
              <a:t>fracture</a:t>
            </a:r>
            <a:r>
              <a:rPr lang="tr-TR" sz="2400" dirty="0" smtClean="0"/>
              <a:t> </a:t>
            </a:r>
            <a:r>
              <a:rPr lang="tr-TR" sz="2400" dirty="0" err="1" smtClean="0"/>
              <a:t>toughness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</a:t>
            </a:r>
            <a:r>
              <a:rPr lang="tr-TR" sz="2400" dirty="0" err="1" smtClean="0"/>
              <a:t>observed</a:t>
            </a:r>
            <a:r>
              <a:rPr lang="tr-TR" sz="2400" dirty="0" smtClean="0"/>
              <a:t> </a:t>
            </a:r>
            <a:r>
              <a:rPr lang="tr-TR" sz="2400" dirty="0" err="1" smtClean="0"/>
              <a:t>mechanism</a:t>
            </a:r>
            <a:r>
              <a:rPr lang="tr-TR" sz="2400" dirty="0" smtClean="0"/>
              <a:t> </a:t>
            </a:r>
            <a:r>
              <a:rPr lang="tr-TR" sz="2400" dirty="0" err="1" smtClean="0"/>
              <a:t>int</a:t>
            </a:r>
            <a:r>
              <a:rPr lang="tr-TR" sz="2400" dirty="0" smtClean="0"/>
              <a:t> he </a:t>
            </a:r>
            <a:r>
              <a:rPr lang="tr-TR" sz="2400" dirty="0" err="1" smtClean="0"/>
              <a:t>joint</a:t>
            </a:r>
            <a:r>
              <a:rPr lang="tr-TR" sz="2400" dirty="0" smtClean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2 </a:t>
            </a:r>
            <a:r>
              <a:rPr lang="tr-TR" dirty="0" err="1" smtClean="0"/>
              <a:t>Materials</a:t>
            </a:r>
            <a:r>
              <a:rPr lang="tr-TR" dirty="0" smtClean="0"/>
              <a:t> &amp; </a:t>
            </a:r>
            <a:r>
              <a:rPr lang="tr-TR" dirty="0" err="1" smtClean="0"/>
              <a:t>Manufacture</a:t>
            </a:r>
            <a:r>
              <a:rPr lang="tr-TR" dirty="0" smtClean="0"/>
              <a:t> of </a:t>
            </a:r>
            <a:r>
              <a:rPr lang="tr-TR" dirty="0" err="1" smtClean="0"/>
              <a:t>Joints</a:t>
            </a:r>
            <a:endParaRPr lang="en-US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 smtClean="0"/>
              <a:t>180</a:t>
            </a:r>
            <a:r>
              <a:rPr lang="tr-TR" sz="2400" dirty="0" smtClean="0"/>
              <a:t> °C </a:t>
            </a:r>
            <a:r>
              <a:rPr lang="tr-TR" sz="2400" dirty="0" err="1" smtClean="0"/>
              <a:t>cure</a:t>
            </a:r>
            <a:r>
              <a:rPr lang="tr-TR" sz="2400" dirty="0" smtClean="0"/>
              <a:t> </a:t>
            </a:r>
            <a:r>
              <a:rPr lang="tr-TR" sz="2400" dirty="0" err="1" smtClean="0"/>
              <a:t>unidirectional</a:t>
            </a:r>
            <a:r>
              <a:rPr lang="tr-TR" sz="2400" dirty="0" smtClean="0"/>
              <a:t> </a:t>
            </a:r>
            <a:r>
              <a:rPr lang="tr-TR" sz="2400" dirty="0" err="1" smtClean="0"/>
              <a:t>carbon</a:t>
            </a:r>
            <a:r>
              <a:rPr lang="tr-TR" sz="2400" dirty="0" smtClean="0"/>
              <a:t>-</a:t>
            </a:r>
            <a:r>
              <a:rPr lang="tr-TR" sz="2400" dirty="0" err="1" smtClean="0"/>
              <a:t>fibre</a:t>
            </a:r>
            <a:r>
              <a:rPr lang="tr-TR" sz="2400" dirty="0" smtClean="0"/>
              <a:t>/</a:t>
            </a:r>
            <a:r>
              <a:rPr lang="tr-TR" sz="2400" dirty="0" err="1" smtClean="0"/>
              <a:t>epoxy</a:t>
            </a:r>
            <a:r>
              <a:rPr lang="tr-TR" sz="2400" dirty="0" smtClean="0"/>
              <a:t> </a:t>
            </a:r>
            <a:r>
              <a:rPr lang="tr-TR" sz="2400" dirty="0" err="1" smtClean="0"/>
              <a:t>prepreg</a:t>
            </a:r>
            <a:r>
              <a:rPr lang="tr-TR" sz="2400" dirty="0" smtClean="0"/>
              <a:t> (CYCOM 977-2/HTS)</a:t>
            </a:r>
          </a:p>
          <a:p>
            <a:r>
              <a:rPr lang="tr-TR" sz="2400" dirty="0" smtClean="0"/>
              <a:t>A </a:t>
            </a:r>
            <a:r>
              <a:rPr lang="tr-TR" sz="2400" dirty="0" err="1" smtClean="0"/>
              <a:t>dual</a:t>
            </a:r>
            <a:r>
              <a:rPr lang="tr-TR" sz="2400" dirty="0" smtClean="0"/>
              <a:t> 120/180</a:t>
            </a:r>
            <a:r>
              <a:rPr lang="tr-TR" sz="2400" dirty="0" smtClean="0"/>
              <a:t> °C </a:t>
            </a:r>
            <a:r>
              <a:rPr lang="tr-TR" sz="2400" dirty="0" err="1" smtClean="0"/>
              <a:t>cure</a:t>
            </a:r>
            <a:r>
              <a:rPr lang="tr-TR" sz="2400" dirty="0" smtClean="0"/>
              <a:t> </a:t>
            </a:r>
            <a:r>
              <a:rPr lang="tr-TR" sz="2400" dirty="0" err="1" smtClean="0"/>
              <a:t>epoxy</a:t>
            </a:r>
            <a:r>
              <a:rPr lang="tr-TR" sz="2400" dirty="0" smtClean="0"/>
              <a:t> film </a:t>
            </a:r>
            <a:r>
              <a:rPr lang="tr-TR" sz="2400" dirty="0" err="1" smtClean="0"/>
              <a:t>adhesive</a:t>
            </a:r>
            <a:r>
              <a:rPr lang="tr-TR" sz="2400" dirty="0" smtClean="0"/>
              <a:t> (FM300-2M)</a:t>
            </a:r>
          </a:p>
          <a:p>
            <a:pPr lvl="1"/>
            <a:r>
              <a:rPr lang="tr-TR" dirty="0" err="1" smtClean="0"/>
              <a:t>Contains</a:t>
            </a:r>
            <a:r>
              <a:rPr lang="tr-TR" dirty="0" smtClean="0"/>
              <a:t> polyester </a:t>
            </a:r>
            <a:r>
              <a:rPr lang="tr-TR" dirty="0" err="1" smtClean="0"/>
              <a:t>scrim</a:t>
            </a:r>
            <a:r>
              <a:rPr lang="tr-TR" dirty="0" smtClean="0"/>
              <a:t> </a:t>
            </a:r>
            <a:r>
              <a:rPr lang="tr-TR" dirty="0" err="1" smtClean="0"/>
              <a:t>cloth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random</a:t>
            </a:r>
            <a:r>
              <a:rPr lang="tr-TR" dirty="0" smtClean="0"/>
              <a:t> </a:t>
            </a:r>
            <a:r>
              <a:rPr lang="tr-TR" dirty="0" err="1" smtClean="0"/>
              <a:t>orientation</a:t>
            </a:r>
            <a:r>
              <a:rPr lang="tr-TR" dirty="0" smtClean="0"/>
              <a:t>.</a:t>
            </a:r>
            <a:endParaRPr lang="tr-TR" dirty="0" smtClean="0"/>
          </a:p>
          <a:p>
            <a:r>
              <a:rPr lang="tr-TR" sz="2400" dirty="0" err="1" smtClean="0"/>
              <a:t>Produced</a:t>
            </a:r>
            <a:r>
              <a:rPr lang="tr-TR" sz="2400" dirty="0" smtClean="0"/>
              <a:t> in-</a:t>
            </a:r>
            <a:r>
              <a:rPr lang="tr-TR" sz="2400" dirty="0" err="1" smtClean="0"/>
              <a:t>house</a:t>
            </a:r>
            <a:r>
              <a:rPr lang="tr-TR" sz="2400" dirty="0" smtClean="0"/>
              <a:t>, </a:t>
            </a:r>
            <a:r>
              <a:rPr lang="tr-TR" sz="2400" dirty="0" err="1" smtClean="0"/>
              <a:t>using</a:t>
            </a:r>
            <a:r>
              <a:rPr lang="tr-TR" sz="2400" dirty="0" smtClean="0"/>
              <a:t> </a:t>
            </a:r>
            <a:r>
              <a:rPr lang="tr-TR" sz="2400" dirty="0" err="1" smtClean="0"/>
              <a:t>vacuum</a:t>
            </a:r>
            <a:r>
              <a:rPr lang="tr-TR" sz="2400" dirty="0" smtClean="0"/>
              <a:t> </a:t>
            </a:r>
            <a:r>
              <a:rPr lang="tr-TR" sz="2400" dirty="0" err="1" smtClean="0"/>
              <a:t>bagging</a:t>
            </a:r>
            <a:r>
              <a:rPr lang="tr-TR" sz="2400" dirty="0" smtClean="0"/>
              <a:t> </a:t>
            </a:r>
            <a:r>
              <a:rPr lang="tr-TR" sz="2400" dirty="0" err="1" smtClean="0"/>
              <a:t>layup</a:t>
            </a:r>
            <a:r>
              <a:rPr lang="tr-TR" sz="2400" dirty="0" smtClean="0"/>
              <a:t> </a:t>
            </a:r>
            <a:r>
              <a:rPr lang="tr-TR" sz="2400" dirty="0" err="1" smtClean="0"/>
              <a:t>procedure</a:t>
            </a:r>
            <a:endParaRPr lang="tr-TR" sz="2400" dirty="0" smtClean="0"/>
          </a:p>
          <a:p>
            <a:pPr lvl="1"/>
            <a:r>
              <a:rPr lang="tr-TR" dirty="0" smtClean="0"/>
              <a:t>120</a:t>
            </a:r>
            <a:r>
              <a:rPr lang="tr-TR" dirty="0" smtClean="0"/>
              <a:t> °C </a:t>
            </a:r>
            <a:r>
              <a:rPr lang="tr-TR" dirty="0" err="1" smtClean="0"/>
              <a:t>or</a:t>
            </a:r>
            <a:r>
              <a:rPr lang="tr-TR" dirty="0" smtClean="0"/>
              <a:t> 180</a:t>
            </a:r>
            <a:r>
              <a:rPr lang="tr-TR" dirty="0" smtClean="0"/>
              <a:t> °C </a:t>
            </a:r>
            <a:endParaRPr lang="tr-TR" dirty="0" smtClean="0"/>
          </a:p>
          <a:p>
            <a:pPr lvl="1"/>
            <a:r>
              <a:rPr lang="tr-TR" dirty="0" err="1" smtClean="0"/>
              <a:t>Each</a:t>
            </a:r>
            <a:r>
              <a:rPr lang="tr-TR" dirty="0" smtClean="0"/>
              <a:t> </a:t>
            </a:r>
            <a:r>
              <a:rPr lang="tr-TR" dirty="0" err="1" smtClean="0"/>
              <a:t>consists</a:t>
            </a:r>
            <a:r>
              <a:rPr lang="tr-TR" dirty="0" smtClean="0"/>
              <a:t> 10 </a:t>
            </a:r>
            <a:r>
              <a:rPr lang="tr-TR" dirty="0" err="1" smtClean="0"/>
              <a:t>plies</a:t>
            </a:r>
            <a:r>
              <a:rPr lang="tr-TR" dirty="0" smtClean="0"/>
              <a:t> </a:t>
            </a:r>
            <a:r>
              <a:rPr lang="tr-TR" dirty="0" smtClean="0">
                <a:sym typeface="Wingdings" pitchFamily="2" charset="2"/>
              </a:rPr>
              <a:t> </a:t>
            </a:r>
            <a:r>
              <a:rPr lang="tr-TR" dirty="0" err="1" smtClean="0">
                <a:sym typeface="Wingdings" pitchFamily="2" charset="2"/>
              </a:rPr>
              <a:t>grit</a:t>
            </a:r>
            <a:r>
              <a:rPr lang="tr-TR" dirty="0" smtClean="0">
                <a:sym typeface="Wingdings" pitchFamily="2" charset="2"/>
              </a:rPr>
              <a:t>-</a:t>
            </a:r>
            <a:r>
              <a:rPr lang="tr-TR" dirty="0" err="1" smtClean="0">
                <a:sym typeface="Wingdings" pitchFamily="2" charset="2"/>
              </a:rPr>
              <a:t>blastered</a:t>
            </a:r>
            <a:r>
              <a:rPr lang="tr-TR" dirty="0" smtClean="0">
                <a:sym typeface="Wingdings" pitchFamily="2" charset="2"/>
              </a:rPr>
              <a:t> </a:t>
            </a:r>
            <a:r>
              <a:rPr lang="tr-TR" dirty="0" err="1" smtClean="0">
                <a:sym typeface="Wingdings" pitchFamily="2" charset="2"/>
              </a:rPr>
              <a:t>to</a:t>
            </a:r>
            <a:r>
              <a:rPr lang="tr-TR" dirty="0" smtClean="0">
                <a:sym typeface="Wingdings" pitchFamily="2" charset="2"/>
              </a:rPr>
              <a:t> </a:t>
            </a:r>
            <a:r>
              <a:rPr lang="tr-TR" dirty="0" err="1" smtClean="0">
                <a:sym typeface="Wingdings" pitchFamily="2" charset="2"/>
              </a:rPr>
              <a:t>remove</a:t>
            </a:r>
            <a:r>
              <a:rPr lang="tr-TR" dirty="0" smtClean="0">
                <a:sym typeface="Wingdings" pitchFamily="2" charset="2"/>
              </a:rPr>
              <a:t> </a:t>
            </a:r>
            <a:r>
              <a:rPr lang="tr-TR" dirty="0" err="1" smtClean="0">
                <a:sym typeface="Wingdings" pitchFamily="2" charset="2"/>
              </a:rPr>
              <a:t>release</a:t>
            </a:r>
            <a:r>
              <a:rPr lang="tr-TR" dirty="0" smtClean="0">
                <a:sym typeface="Wingdings" pitchFamily="2" charset="2"/>
              </a:rPr>
              <a:t> </a:t>
            </a:r>
            <a:r>
              <a:rPr lang="tr-TR" dirty="0" err="1" smtClean="0">
                <a:sym typeface="Wingdings" pitchFamily="2" charset="2"/>
              </a:rPr>
              <a:t>agent</a:t>
            </a:r>
            <a:r>
              <a:rPr lang="tr-TR" dirty="0" smtClean="0">
                <a:sym typeface="Wingdings" pitchFamily="2" charset="2"/>
              </a:rPr>
              <a:t> </a:t>
            </a:r>
            <a:r>
              <a:rPr lang="tr-TR" dirty="0" err="1" smtClean="0">
                <a:sym typeface="Wingdings" pitchFamily="2" charset="2"/>
              </a:rPr>
              <a:t>and</a:t>
            </a:r>
            <a:r>
              <a:rPr lang="tr-TR" dirty="0" smtClean="0">
                <a:sym typeface="Wingdings" pitchFamily="2" charset="2"/>
              </a:rPr>
              <a:t> </a:t>
            </a:r>
            <a:r>
              <a:rPr lang="tr-TR" dirty="0" err="1" smtClean="0">
                <a:sym typeface="Wingdings" pitchFamily="2" charset="2"/>
              </a:rPr>
              <a:t>roughen</a:t>
            </a:r>
            <a:endParaRPr lang="tr-TR" dirty="0" smtClean="0">
              <a:sym typeface="Wingdings" pitchFamily="2" charset="2"/>
            </a:endParaRPr>
          </a:p>
          <a:p>
            <a:pPr lvl="2"/>
            <a:r>
              <a:rPr lang="tr-TR" sz="2400" dirty="0" smtClean="0">
                <a:sym typeface="Wingdings" pitchFamily="2" charset="2"/>
              </a:rPr>
              <a:t>CC180 = </a:t>
            </a:r>
            <a:r>
              <a:rPr lang="tr-TR" sz="2400" dirty="0" err="1" smtClean="0">
                <a:sym typeface="Wingdings" pitchFamily="2" charset="2"/>
              </a:rPr>
              <a:t>co</a:t>
            </a:r>
            <a:r>
              <a:rPr lang="tr-TR" sz="2400" dirty="0" smtClean="0">
                <a:sym typeface="Wingdings" pitchFamily="2" charset="2"/>
              </a:rPr>
              <a:t>-</a:t>
            </a:r>
            <a:r>
              <a:rPr lang="tr-TR" sz="2400" dirty="0" err="1" smtClean="0">
                <a:sym typeface="Wingdings" pitchFamily="2" charset="2"/>
              </a:rPr>
              <a:t>cured</a:t>
            </a:r>
            <a:r>
              <a:rPr lang="tr-TR" sz="2400" dirty="0" smtClean="0">
                <a:sym typeface="Wingdings" pitchFamily="2" charset="2"/>
              </a:rPr>
              <a:t> at 180</a:t>
            </a:r>
            <a:r>
              <a:rPr lang="tr-TR" sz="2400" dirty="0" smtClean="0"/>
              <a:t> °C </a:t>
            </a:r>
            <a:r>
              <a:rPr lang="tr-TR" sz="2400" dirty="0" smtClean="0"/>
              <a:t> </a:t>
            </a:r>
          </a:p>
          <a:p>
            <a:pPr lvl="2"/>
            <a:r>
              <a:rPr lang="tr-TR" sz="2400" dirty="0" smtClean="0"/>
              <a:t>SB180=</a:t>
            </a:r>
            <a:r>
              <a:rPr lang="tr-TR" sz="2400" dirty="0" smtClean="0"/>
              <a:t> </a:t>
            </a:r>
            <a:r>
              <a:rPr lang="tr-TR" sz="2400" dirty="0" err="1" smtClean="0"/>
              <a:t>Secondary</a:t>
            </a:r>
            <a:r>
              <a:rPr lang="tr-TR" sz="2400" dirty="0" smtClean="0"/>
              <a:t> </a:t>
            </a:r>
            <a:r>
              <a:rPr lang="tr-TR" sz="2400" dirty="0" err="1" smtClean="0"/>
              <a:t>bonded</a:t>
            </a:r>
            <a:r>
              <a:rPr lang="tr-TR" sz="2400" dirty="0" smtClean="0"/>
              <a:t> at 180°C </a:t>
            </a:r>
          </a:p>
          <a:p>
            <a:pPr lvl="2"/>
            <a:r>
              <a:rPr lang="tr-TR" sz="2400" dirty="0" smtClean="0"/>
              <a:t>SB120=</a:t>
            </a:r>
            <a:r>
              <a:rPr lang="tr-TR" sz="2400" dirty="0" smtClean="0"/>
              <a:t> </a:t>
            </a:r>
            <a:r>
              <a:rPr lang="tr-TR" sz="2400" dirty="0" err="1" smtClean="0"/>
              <a:t>Secondary</a:t>
            </a:r>
            <a:r>
              <a:rPr lang="tr-TR" sz="2400" dirty="0" smtClean="0"/>
              <a:t> bonded120°C 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3 </a:t>
            </a:r>
            <a:r>
              <a:rPr lang="tr-TR" dirty="0" err="1" smtClean="0"/>
              <a:t>Experimental</a:t>
            </a:r>
            <a:r>
              <a:rPr lang="tr-TR" dirty="0" smtClean="0"/>
              <a:t> </a:t>
            </a:r>
            <a:r>
              <a:rPr lang="tr-TR" dirty="0" err="1" smtClean="0"/>
              <a:t>Methods</a:t>
            </a:r>
            <a:endParaRPr lang="en-US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r-TR" sz="2400" u="sng" dirty="0" smtClean="0"/>
              <a:t>3.1 </a:t>
            </a:r>
            <a:r>
              <a:rPr lang="tr-TR" sz="2400" u="sng" dirty="0" err="1" smtClean="0"/>
              <a:t>Fracture</a:t>
            </a:r>
            <a:r>
              <a:rPr lang="tr-TR" sz="2400" u="sng" dirty="0" smtClean="0"/>
              <a:t> Test </a:t>
            </a:r>
            <a:r>
              <a:rPr lang="tr-TR" sz="2400" u="sng" dirty="0" err="1" smtClean="0"/>
              <a:t>Method</a:t>
            </a:r>
            <a:r>
              <a:rPr lang="tr-TR" sz="2400" u="sng" dirty="0" smtClean="0"/>
              <a:t>:</a:t>
            </a:r>
          </a:p>
          <a:p>
            <a:endParaRPr lang="tr-TR" sz="2400" dirty="0" smtClean="0"/>
          </a:p>
          <a:p>
            <a:r>
              <a:rPr lang="tr-TR" sz="2400" dirty="0" smtClean="0">
                <a:sym typeface="Wingdings" pitchFamily="2" charset="2"/>
              </a:rPr>
              <a:t>Nominal </a:t>
            </a:r>
            <a:r>
              <a:rPr lang="tr-TR" sz="2400" dirty="0" err="1" smtClean="0">
                <a:sym typeface="Wingdings" pitchFamily="2" charset="2"/>
              </a:rPr>
              <a:t>Width</a:t>
            </a:r>
            <a:r>
              <a:rPr lang="tr-TR" sz="2400" dirty="0" smtClean="0">
                <a:sym typeface="Wingdings" pitchFamily="2" charset="2"/>
              </a:rPr>
              <a:t> = 25mm</a:t>
            </a:r>
          </a:p>
          <a:p>
            <a:r>
              <a:rPr lang="tr-TR" sz="2400" dirty="0" err="1" smtClean="0">
                <a:sym typeface="Wingdings" pitchFamily="2" charset="2"/>
              </a:rPr>
              <a:t>Length</a:t>
            </a:r>
            <a:r>
              <a:rPr lang="tr-TR" sz="2400" dirty="0" smtClean="0">
                <a:sym typeface="Wingdings" pitchFamily="2" charset="2"/>
              </a:rPr>
              <a:t> = 150mm (DCB) </a:t>
            </a:r>
            <a:r>
              <a:rPr lang="tr-TR" sz="2400" dirty="0" err="1" smtClean="0">
                <a:sym typeface="Wingdings" pitchFamily="2" charset="2"/>
              </a:rPr>
              <a:t>and</a:t>
            </a:r>
            <a:r>
              <a:rPr lang="tr-TR" sz="2400" dirty="0" smtClean="0">
                <a:sym typeface="Wingdings" pitchFamily="2" charset="2"/>
              </a:rPr>
              <a:t> 190mm (ADCB/ELS)</a:t>
            </a:r>
          </a:p>
          <a:p>
            <a:r>
              <a:rPr lang="tr-TR" sz="2400" dirty="0" err="1" smtClean="0">
                <a:sym typeface="Wingdings" pitchFamily="2" charset="2"/>
              </a:rPr>
              <a:t>Initial</a:t>
            </a:r>
            <a:r>
              <a:rPr lang="tr-TR" sz="2400" dirty="0" smtClean="0">
                <a:sym typeface="Wingdings" pitchFamily="2" charset="2"/>
              </a:rPr>
              <a:t> </a:t>
            </a:r>
            <a:r>
              <a:rPr lang="tr-TR" sz="2400" dirty="0" err="1" smtClean="0">
                <a:sym typeface="Wingdings" pitchFamily="2" charset="2"/>
              </a:rPr>
              <a:t>Crack</a:t>
            </a:r>
            <a:r>
              <a:rPr lang="tr-TR" sz="2400" dirty="0" smtClean="0">
                <a:sym typeface="Wingdings" pitchFamily="2" charset="2"/>
              </a:rPr>
              <a:t> </a:t>
            </a:r>
            <a:r>
              <a:rPr lang="tr-TR" sz="2400" dirty="0" err="1" smtClean="0">
                <a:sym typeface="Wingdings" pitchFamily="2" charset="2"/>
              </a:rPr>
              <a:t>Starter</a:t>
            </a:r>
            <a:r>
              <a:rPr lang="tr-TR" sz="2400" dirty="0" smtClean="0">
                <a:sym typeface="Wingdings" pitchFamily="2" charset="2"/>
              </a:rPr>
              <a:t> = 45mm(DCB) </a:t>
            </a:r>
            <a:r>
              <a:rPr lang="tr-TR" sz="2400" dirty="0" err="1" smtClean="0">
                <a:sym typeface="Wingdings" pitchFamily="2" charset="2"/>
              </a:rPr>
              <a:t>and</a:t>
            </a:r>
            <a:r>
              <a:rPr lang="tr-TR" sz="2400" dirty="0" smtClean="0">
                <a:sym typeface="Wingdings" pitchFamily="2" charset="2"/>
              </a:rPr>
              <a:t> 6mm(ADCB/ELS)</a:t>
            </a:r>
          </a:p>
          <a:p>
            <a:r>
              <a:rPr lang="tr-TR" sz="2400" dirty="0" smtClean="0">
                <a:sym typeface="Wingdings" pitchFamily="2" charset="2"/>
              </a:rPr>
              <a:t>Total </a:t>
            </a:r>
            <a:r>
              <a:rPr lang="tr-TR" sz="2400" dirty="0" err="1" smtClean="0">
                <a:sym typeface="Wingdings" pitchFamily="2" charset="2"/>
              </a:rPr>
              <a:t>Thickness</a:t>
            </a:r>
            <a:r>
              <a:rPr lang="tr-TR" sz="2400" dirty="0" smtClean="0">
                <a:sym typeface="Wingdings" pitchFamily="2" charset="2"/>
              </a:rPr>
              <a:t> ~ 5.6mm</a:t>
            </a: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838200" y="352696"/>
            <a:ext cx="10515600" cy="6505303"/>
          </a:xfrm>
        </p:spPr>
        <p:txBody>
          <a:bodyPr/>
          <a:lstStyle/>
          <a:p>
            <a:endParaRPr lang="tr-TR" sz="2400" b="1" dirty="0" smtClean="0"/>
          </a:p>
          <a:p>
            <a:r>
              <a:rPr lang="tr-TR" sz="2400" b="1" dirty="0" err="1" smtClean="0"/>
              <a:t>Mode</a:t>
            </a:r>
            <a:r>
              <a:rPr lang="tr-TR" sz="2400" b="1" dirty="0" smtClean="0"/>
              <a:t> </a:t>
            </a:r>
            <a:r>
              <a:rPr lang="tr-TR" sz="2400" b="1" dirty="0" smtClean="0"/>
              <a:t>I </a:t>
            </a:r>
            <a:r>
              <a:rPr lang="tr-TR" sz="2400" b="1" dirty="0" err="1" smtClean="0"/>
              <a:t>Fracture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Toughness</a:t>
            </a:r>
            <a:r>
              <a:rPr lang="tr-TR" sz="2400" b="1" dirty="0" smtClean="0"/>
              <a:t>:</a:t>
            </a:r>
          </a:p>
          <a:p>
            <a:pPr>
              <a:buNone/>
            </a:pPr>
            <a:r>
              <a:rPr lang="tr-TR" sz="2400" dirty="0" err="1" smtClean="0"/>
              <a:t>using</a:t>
            </a:r>
            <a:r>
              <a:rPr lang="tr-TR" sz="2400" dirty="0" smtClean="0"/>
              <a:t> </a:t>
            </a:r>
            <a:r>
              <a:rPr lang="tr-TR" sz="2400" dirty="0" err="1" smtClean="0"/>
              <a:t>double</a:t>
            </a:r>
            <a:r>
              <a:rPr lang="tr-TR" sz="2400" dirty="0" smtClean="0"/>
              <a:t> </a:t>
            </a:r>
            <a:r>
              <a:rPr lang="tr-TR" sz="2400" dirty="0" err="1" smtClean="0"/>
              <a:t>cantilever</a:t>
            </a:r>
            <a:r>
              <a:rPr lang="tr-TR" sz="2400" dirty="0" smtClean="0"/>
              <a:t> </a:t>
            </a:r>
            <a:r>
              <a:rPr lang="tr-TR" sz="2400" dirty="0" err="1" smtClean="0"/>
              <a:t>beam</a:t>
            </a:r>
            <a:r>
              <a:rPr lang="tr-TR" sz="2400" dirty="0" smtClean="0"/>
              <a:t> test (DCB</a:t>
            </a:r>
            <a:r>
              <a:rPr lang="tr-TR" sz="2400" dirty="0" smtClean="0"/>
              <a:t>)</a:t>
            </a:r>
          </a:p>
          <a:p>
            <a:pPr>
              <a:buNone/>
            </a:pPr>
            <a:endParaRPr lang="tr-TR" sz="2400" dirty="0" smtClean="0"/>
          </a:p>
          <a:p>
            <a:pPr>
              <a:buNone/>
            </a:pPr>
            <a:endParaRPr lang="tr-TR" sz="2400" dirty="0" smtClean="0"/>
          </a:p>
          <a:p>
            <a:pPr>
              <a:buNone/>
            </a:pPr>
            <a:endParaRPr lang="tr-TR" sz="2400" dirty="0" smtClean="0"/>
          </a:p>
          <a:p>
            <a:r>
              <a:rPr lang="tr-TR" sz="2400" b="1" dirty="0" err="1" smtClean="0"/>
              <a:t>Mode</a:t>
            </a:r>
            <a:r>
              <a:rPr lang="tr-TR" sz="2400" b="1" dirty="0" smtClean="0"/>
              <a:t> </a:t>
            </a:r>
            <a:r>
              <a:rPr lang="tr-TR" sz="2400" b="1" dirty="0" smtClean="0"/>
              <a:t>II </a:t>
            </a:r>
            <a:r>
              <a:rPr lang="tr-TR" sz="2400" b="1" dirty="0" err="1" smtClean="0"/>
              <a:t>Fracture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Toughness</a:t>
            </a:r>
            <a:r>
              <a:rPr lang="tr-TR" sz="2400" b="1" dirty="0" smtClean="0"/>
              <a:t>:</a:t>
            </a:r>
          </a:p>
          <a:p>
            <a:pPr>
              <a:buNone/>
            </a:pPr>
            <a:r>
              <a:rPr lang="tr-TR" sz="2400" dirty="0" err="1" smtClean="0"/>
              <a:t>using</a:t>
            </a:r>
            <a:r>
              <a:rPr lang="tr-TR" sz="2400" dirty="0" smtClean="0"/>
              <a:t> </a:t>
            </a:r>
            <a:r>
              <a:rPr lang="tr-TR" sz="2400" dirty="0" err="1" smtClean="0"/>
              <a:t>calibrated</a:t>
            </a:r>
            <a:r>
              <a:rPr lang="tr-TR" sz="2400" dirty="0" smtClean="0"/>
              <a:t>-</a:t>
            </a:r>
            <a:r>
              <a:rPr lang="tr-TR" sz="2400" dirty="0" err="1" smtClean="0"/>
              <a:t>end</a:t>
            </a:r>
            <a:r>
              <a:rPr lang="tr-TR" sz="2400" dirty="0" smtClean="0"/>
              <a:t>-</a:t>
            </a:r>
            <a:r>
              <a:rPr lang="tr-TR" sz="2400" dirty="0" err="1" smtClean="0"/>
              <a:t>loaded</a:t>
            </a:r>
            <a:r>
              <a:rPr lang="tr-TR" sz="2400" dirty="0" smtClean="0"/>
              <a:t>-</a:t>
            </a:r>
            <a:r>
              <a:rPr lang="tr-TR" sz="2400" dirty="0" err="1" smtClean="0"/>
              <a:t>split</a:t>
            </a:r>
            <a:r>
              <a:rPr lang="tr-TR" sz="2400" dirty="0" smtClean="0"/>
              <a:t> (C-ELS)</a:t>
            </a:r>
          </a:p>
          <a:p>
            <a:pPr>
              <a:buNone/>
            </a:pPr>
            <a:endParaRPr lang="tr-TR" sz="2400" dirty="0" smtClean="0"/>
          </a:p>
          <a:p>
            <a:pPr>
              <a:buNone/>
            </a:pPr>
            <a:endParaRPr lang="tr-TR" sz="2400" dirty="0" smtClean="0"/>
          </a:p>
          <a:p>
            <a:r>
              <a:rPr lang="tr-TR" sz="2400" b="1" dirty="0" err="1" smtClean="0"/>
              <a:t>Mixed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Mode</a:t>
            </a:r>
            <a:r>
              <a:rPr lang="tr-TR" sz="2400" b="1" dirty="0" smtClean="0"/>
              <a:t>:</a:t>
            </a:r>
          </a:p>
          <a:p>
            <a:pPr>
              <a:buNone/>
            </a:pPr>
            <a:r>
              <a:rPr lang="tr-TR" sz="2400" dirty="0" err="1" smtClean="0"/>
              <a:t>usign</a:t>
            </a:r>
            <a:r>
              <a:rPr lang="tr-TR" sz="2400" dirty="0" smtClean="0"/>
              <a:t> </a:t>
            </a:r>
            <a:r>
              <a:rPr lang="tr-TR" sz="2400" dirty="0" err="1" smtClean="0"/>
              <a:t>asymmetric</a:t>
            </a:r>
            <a:r>
              <a:rPr lang="tr-TR" sz="2400" dirty="0" smtClean="0"/>
              <a:t> </a:t>
            </a:r>
            <a:r>
              <a:rPr lang="tr-TR" sz="2400" dirty="0" err="1" smtClean="0"/>
              <a:t>double</a:t>
            </a:r>
            <a:r>
              <a:rPr lang="tr-TR" sz="2400" dirty="0" smtClean="0"/>
              <a:t> </a:t>
            </a:r>
            <a:r>
              <a:rPr lang="tr-TR" sz="2400" dirty="0" err="1" smtClean="0"/>
              <a:t>cantilever</a:t>
            </a:r>
            <a:r>
              <a:rPr lang="tr-TR" sz="2400" dirty="0" smtClean="0"/>
              <a:t> </a:t>
            </a:r>
            <a:r>
              <a:rPr lang="tr-TR" sz="2400" dirty="0" err="1" smtClean="0"/>
              <a:t>beam</a:t>
            </a:r>
            <a:r>
              <a:rPr lang="tr-TR" sz="2400" dirty="0" smtClean="0"/>
              <a:t> </a:t>
            </a:r>
            <a:r>
              <a:rPr lang="tr-TR" sz="2400" dirty="0" smtClean="0"/>
              <a:t>(ADCB)</a:t>
            </a:r>
          </a:p>
          <a:p>
            <a:pPr>
              <a:buNone/>
            </a:pPr>
            <a:endParaRPr lang="tr-TR" dirty="0" smtClean="0"/>
          </a:p>
          <a:p>
            <a:pPr>
              <a:buNone/>
            </a:pPr>
            <a:endParaRPr lang="tr-TR" dirty="0" smtClean="0"/>
          </a:p>
          <a:p>
            <a:pPr>
              <a:buNone/>
            </a:pPr>
            <a:endParaRPr lang="tr-TR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0471" t="57640" r="32930" b="15262"/>
          <a:stretch>
            <a:fillRect/>
          </a:stretch>
        </p:blipFill>
        <p:spPr bwMode="auto">
          <a:xfrm>
            <a:off x="7233819" y="2508070"/>
            <a:ext cx="4958181" cy="2063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l="32665" t="46161" r="33200" b="26875"/>
          <a:stretch>
            <a:fillRect/>
          </a:stretch>
        </p:blipFill>
        <p:spPr bwMode="auto">
          <a:xfrm>
            <a:off x="7576457" y="4637315"/>
            <a:ext cx="4441371" cy="1972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 l="32374" t="29942" r="33310" b="42419"/>
          <a:stretch>
            <a:fillRect/>
          </a:stretch>
        </p:blipFill>
        <p:spPr bwMode="auto">
          <a:xfrm>
            <a:off x="7589520" y="214919"/>
            <a:ext cx="4602480" cy="2084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 smtClean="0"/>
              <a:t>LEFM </a:t>
            </a:r>
            <a:r>
              <a:rPr lang="tr-TR" sz="2400" dirty="0" err="1" smtClean="0"/>
              <a:t>Method</a:t>
            </a:r>
            <a:r>
              <a:rPr lang="tr-TR" sz="2400" dirty="0" smtClean="0"/>
              <a:t> is </a:t>
            </a:r>
            <a:r>
              <a:rPr lang="tr-TR" sz="2400" dirty="0" err="1" smtClean="0"/>
              <a:t>applied</a:t>
            </a:r>
            <a:r>
              <a:rPr lang="tr-TR" sz="2400" dirty="0" smtClean="0"/>
              <a:t> </a:t>
            </a:r>
            <a:r>
              <a:rPr lang="tr-TR" sz="2400" dirty="0" smtClean="0">
                <a:sym typeface="Wingdings" pitchFamily="2" charset="2"/>
              </a:rPr>
              <a:t> </a:t>
            </a:r>
            <a:r>
              <a:rPr lang="tr-TR" sz="2400" dirty="0" err="1" smtClean="0">
                <a:sym typeface="Wingdings" pitchFamily="2" charset="2"/>
              </a:rPr>
              <a:t>To</a:t>
            </a:r>
            <a:r>
              <a:rPr lang="tr-TR" sz="2400" dirty="0" smtClean="0">
                <a:sym typeface="Wingdings" pitchFamily="2" charset="2"/>
              </a:rPr>
              <a:t> </a:t>
            </a:r>
            <a:r>
              <a:rPr lang="tr-TR" sz="2400" dirty="0" err="1" smtClean="0">
                <a:sym typeface="Wingdings" pitchFamily="2" charset="2"/>
              </a:rPr>
              <a:t>create</a:t>
            </a:r>
            <a:r>
              <a:rPr lang="tr-TR" sz="2400" dirty="0" smtClean="0">
                <a:sym typeface="Wingdings" pitchFamily="2" charset="2"/>
              </a:rPr>
              <a:t> </a:t>
            </a:r>
            <a:r>
              <a:rPr lang="tr-TR" sz="2400" dirty="0" err="1" smtClean="0">
                <a:sym typeface="Wingdings" pitchFamily="2" charset="2"/>
              </a:rPr>
              <a:t>sharp</a:t>
            </a:r>
            <a:r>
              <a:rPr lang="tr-TR" sz="2400" dirty="0" smtClean="0">
                <a:sym typeface="Wingdings" pitchFamily="2" charset="2"/>
              </a:rPr>
              <a:t> </a:t>
            </a:r>
            <a:r>
              <a:rPr lang="tr-TR" sz="2400" dirty="0" err="1" smtClean="0">
                <a:sym typeface="Wingdings" pitchFamily="2" charset="2"/>
              </a:rPr>
              <a:t>crack</a:t>
            </a:r>
            <a:r>
              <a:rPr lang="tr-TR" sz="2400" dirty="0" smtClean="0">
                <a:sym typeface="Wingdings" pitchFamily="2" charset="2"/>
              </a:rPr>
              <a:t>.</a:t>
            </a:r>
            <a:endParaRPr lang="tr-TR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tr-TR" dirty="0" err="1" smtClean="0"/>
              <a:t>Loaded</a:t>
            </a:r>
            <a:r>
              <a:rPr lang="tr-TR" dirty="0" smtClean="0"/>
              <a:t> </a:t>
            </a:r>
            <a:r>
              <a:rPr lang="tr-TR" dirty="0" err="1" smtClean="0"/>
              <a:t>until</a:t>
            </a:r>
            <a:r>
              <a:rPr lang="tr-TR" dirty="0" smtClean="0"/>
              <a:t> </a:t>
            </a:r>
            <a:r>
              <a:rPr lang="tr-TR" dirty="0" err="1" smtClean="0"/>
              <a:t>crack</a:t>
            </a:r>
            <a:r>
              <a:rPr lang="tr-TR" dirty="0" smtClean="0"/>
              <a:t> </a:t>
            </a:r>
            <a:r>
              <a:rPr lang="tr-TR" dirty="0" err="1" smtClean="0"/>
              <a:t>propogates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5mm</a:t>
            </a:r>
          </a:p>
          <a:p>
            <a:pPr marL="914400" lvl="1" indent="-457200">
              <a:buFont typeface="+mj-lt"/>
              <a:buAutoNum type="arabicPeriod"/>
            </a:pPr>
            <a:r>
              <a:rPr lang="tr-TR" dirty="0" err="1" smtClean="0"/>
              <a:t>Unload</a:t>
            </a:r>
            <a:endParaRPr lang="tr-TR" dirty="0" smtClean="0"/>
          </a:p>
          <a:p>
            <a:pPr marL="914400" lvl="1" indent="-457200">
              <a:buFont typeface="+mj-lt"/>
              <a:buAutoNum type="arabicPeriod"/>
            </a:pPr>
            <a:r>
              <a:rPr lang="tr-TR" dirty="0" err="1" smtClean="0"/>
              <a:t>Then</a:t>
            </a:r>
            <a:r>
              <a:rPr lang="tr-TR" dirty="0" smtClean="0"/>
              <a:t> </a:t>
            </a:r>
            <a:r>
              <a:rPr lang="tr-TR" dirty="0" err="1" smtClean="0"/>
              <a:t>resume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loading</a:t>
            </a:r>
            <a:endParaRPr lang="tr-TR" dirty="0" smtClean="0"/>
          </a:p>
          <a:p>
            <a:endParaRPr lang="tr-TR" sz="2400" dirty="0" smtClean="0"/>
          </a:p>
          <a:p>
            <a:r>
              <a:rPr lang="tr-TR" sz="2400" dirty="0" err="1" smtClean="0"/>
              <a:t>Crack</a:t>
            </a:r>
            <a:r>
              <a:rPr lang="tr-TR" sz="2400" dirty="0" smtClean="0"/>
              <a:t> </a:t>
            </a:r>
            <a:r>
              <a:rPr lang="tr-TR" sz="2400" dirty="0" err="1" smtClean="0"/>
              <a:t>length</a:t>
            </a:r>
            <a:r>
              <a:rPr lang="tr-TR" sz="2400" dirty="0" smtClean="0"/>
              <a:t> is </a:t>
            </a:r>
            <a:r>
              <a:rPr lang="tr-TR" sz="2400" dirty="0" err="1" smtClean="0"/>
              <a:t>monitored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x10 </a:t>
            </a:r>
            <a:r>
              <a:rPr lang="tr-TR" sz="2400" dirty="0" err="1" smtClean="0"/>
              <a:t>magnification</a:t>
            </a:r>
            <a:r>
              <a:rPr lang="tr-TR" sz="2400" dirty="0" smtClean="0"/>
              <a:t>.</a:t>
            </a:r>
          </a:p>
          <a:p>
            <a:r>
              <a:rPr lang="tr-TR" sz="2400" dirty="0" err="1" smtClean="0"/>
              <a:t>Constant</a:t>
            </a:r>
            <a:r>
              <a:rPr lang="tr-TR" sz="2400" dirty="0" smtClean="0"/>
              <a:t> </a:t>
            </a:r>
            <a:r>
              <a:rPr lang="tr-TR" sz="2400" dirty="0" err="1" smtClean="0"/>
              <a:t>crosshead</a:t>
            </a:r>
            <a:r>
              <a:rPr lang="tr-TR" sz="2400" dirty="0" smtClean="0"/>
              <a:t> </a:t>
            </a:r>
            <a:r>
              <a:rPr lang="tr-TR" sz="2400" dirty="0" err="1" smtClean="0"/>
              <a:t>displacement</a:t>
            </a:r>
            <a:r>
              <a:rPr lang="tr-TR" sz="2400" dirty="0" smtClean="0"/>
              <a:t> rate of 1mm/</a:t>
            </a:r>
            <a:r>
              <a:rPr lang="tr-TR" sz="2400" dirty="0" err="1" smtClean="0"/>
              <a:t>min</a:t>
            </a:r>
            <a:endParaRPr lang="tr-TR" sz="2400" dirty="0" smtClean="0"/>
          </a:p>
          <a:p>
            <a:pPr lvl="1"/>
            <a:endParaRPr lang="tr-TR" dirty="0" smtClean="0"/>
          </a:p>
          <a:p>
            <a:r>
              <a:rPr lang="tr-TR" sz="2400" dirty="0" err="1" smtClean="0"/>
              <a:t>Mode</a:t>
            </a:r>
            <a:r>
              <a:rPr lang="tr-TR" sz="2400" dirty="0" smtClean="0"/>
              <a:t> II </a:t>
            </a:r>
            <a:r>
              <a:rPr lang="tr-TR" sz="2400" dirty="0" err="1" smtClean="0"/>
              <a:t>crack</a:t>
            </a:r>
            <a:r>
              <a:rPr lang="tr-TR" sz="2400" dirty="0" smtClean="0"/>
              <a:t> </a:t>
            </a:r>
            <a:r>
              <a:rPr lang="tr-TR" sz="2400" dirty="0" err="1" smtClean="0"/>
              <a:t>propogaiton</a:t>
            </a:r>
            <a:r>
              <a:rPr lang="tr-TR" sz="2400" dirty="0" smtClean="0"/>
              <a:t> is </a:t>
            </a:r>
            <a:r>
              <a:rPr lang="tr-TR" sz="2400" dirty="0" err="1" smtClean="0"/>
              <a:t>unstable</a:t>
            </a:r>
            <a:r>
              <a:rPr lang="tr-TR" sz="2400" dirty="0" smtClean="0"/>
              <a:t> </a:t>
            </a:r>
            <a:r>
              <a:rPr lang="tr-TR" sz="2400" dirty="0" smtClean="0">
                <a:sym typeface="Wingdings" pitchFamily="2" charset="2"/>
              </a:rPr>
              <a:t> </a:t>
            </a:r>
            <a:r>
              <a:rPr lang="tr-TR" sz="2400" dirty="0" err="1" smtClean="0">
                <a:sym typeface="Wingdings" pitchFamily="2" charset="2"/>
              </a:rPr>
              <a:t>ratio</a:t>
            </a:r>
            <a:r>
              <a:rPr lang="tr-TR" sz="2400" dirty="0" smtClean="0">
                <a:sym typeface="Wingdings" pitchFamily="2" charset="2"/>
              </a:rPr>
              <a:t> of </a:t>
            </a:r>
            <a:r>
              <a:rPr lang="tr-TR" sz="2400" dirty="0" err="1" smtClean="0">
                <a:sym typeface="Wingdings" pitchFamily="2" charset="2"/>
              </a:rPr>
              <a:t>crack</a:t>
            </a:r>
            <a:r>
              <a:rPr lang="tr-TR" sz="2400" dirty="0" smtClean="0">
                <a:sym typeface="Wingdings" pitchFamily="2" charset="2"/>
              </a:rPr>
              <a:t> </a:t>
            </a:r>
            <a:r>
              <a:rPr lang="tr-TR" sz="2400" dirty="0" err="1" smtClean="0">
                <a:sym typeface="Wingdings" pitchFamily="2" charset="2"/>
              </a:rPr>
              <a:t>length</a:t>
            </a:r>
            <a:r>
              <a:rPr lang="tr-TR" sz="2400" dirty="0" smtClean="0">
                <a:sym typeface="Wingdings" pitchFamily="2" charset="2"/>
              </a:rPr>
              <a:t> (a/L) &gt; 0.55</a:t>
            </a:r>
          </a:p>
          <a:p>
            <a:endParaRPr lang="tr-TR" sz="2400" dirty="0" smtClean="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u="sng" dirty="0" smtClean="0"/>
              <a:t>3.2 </a:t>
            </a:r>
            <a:r>
              <a:rPr lang="tr-TR" u="sng" dirty="0" err="1" smtClean="0"/>
              <a:t>Microscopy</a:t>
            </a:r>
            <a:r>
              <a:rPr lang="tr-TR" u="sng" dirty="0" smtClean="0"/>
              <a:t> </a:t>
            </a:r>
            <a:r>
              <a:rPr lang="tr-TR" u="sng" dirty="0" err="1" smtClean="0"/>
              <a:t>Method</a:t>
            </a:r>
            <a:endParaRPr lang="tr-TR" u="sng" dirty="0" smtClean="0"/>
          </a:p>
          <a:p>
            <a:r>
              <a:rPr lang="tr-TR" dirty="0" err="1" smtClean="0"/>
              <a:t>Optical</a:t>
            </a:r>
            <a:r>
              <a:rPr lang="tr-TR" dirty="0" smtClean="0"/>
              <a:t> </a:t>
            </a:r>
            <a:r>
              <a:rPr lang="tr-TR" dirty="0" err="1" smtClean="0"/>
              <a:t>M</a:t>
            </a:r>
            <a:r>
              <a:rPr lang="tr-TR" dirty="0" err="1" smtClean="0"/>
              <a:t>icroscope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Scanning</a:t>
            </a:r>
            <a:r>
              <a:rPr lang="tr-TR" dirty="0" smtClean="0"/>
              <a:t> </a:t>
            </a:r>
            <a:r>
              <a:rPr lang="tr-TR" dirty="0" err="1" smtClean="0"/>
              <a:t>E</a:t>
            </a:r>
            <a:r>
              <a:rPr lang="tr-TR" dirty="0" err="1" smtClean="0"/>
              <a:t>lectron</a:t>
            </a:r>
            <a:r>
              <a:rPr lang="tr-TR" dirty="0" smtClean="0"/>
              <a:t> </a:t>
            </a:r>
            <a:r>
              <a:rPr lang="tr-TR" dirty="0" err="1" smtClean="0"/>
              <a:t>Microscope</a:t>
            </a:r>
            <a:r>
              <a:rPr lang="tr-TR" dirty="0" smtClean="0"/>
              <a:t> </a:t>
            </a:r>
            <a:r>
              <a:rPr lang="tr-TR" dirty="0" err="1" smtClean="0"/>
              <a:t>after</a:t>
            </a:r>
            <a:r>
              <a:rPr lang="tr-TR" dirty="0" smtClean="0"/>
              <a:t> </a:t>
            </a:r>
            <a:r>
              <a:rPr lang="tr-TR" dirty="0" err="1" smtClean="0"/>
              <a:t>fracture</a:t>
            </a:r>
            <a:r>
              <a:rPr lang="tr-TR" dirty="0" smtClean="0"/>
              <a:t> test</a:t>
            </a:r>
          </a:p>
          <a:p>
            <a:pPr>
              <a:buNone/>
            </a:pPr>
            <a:endParaRPr lang="tr-TR" dirty="0" smtClean="0"/>
          </a:p>
          <a:p>
            <a:pPr>
              <a:buNone/>
            </a:pPr>
            <a:r>
              <a:rPr lang="tr-TR" u="sng" dirty="0" smtClean="0"/>
              <a:t>3.3 </a:t>
            </a:r>
            <a:r>
              <a:rPr lang="tr-TR" u="sng" dirty="0" err="1" smtClean="0"/>
              <a:t>Thermal</a:t>
            </a:r>
            <a:r>
              <a:rPr lang="tr-TR" u="sng" dirty="0" smtClean="0"/>
              <a:t> </a:t>
            </a:r>
            <a:r>
              <a:rPr lang="tr-TR" u="sng" dirty="0" err="1" smtClean="0"/>
              <a:t>Characterisation</a:t>
            </a:r>
            <a:r>
              <a:rPr lang="tr-TR" u="sng" dirty="0" smtClean="0"/>
              <a:t> </a:t>
            </a:r>
            <a:r>
              <a:rPr lang="tr-TR" u="sng" dirty="0" err="1" smtClean="0"/>
              <a:t>Methods</a:t>
            </a:r>
            <a:endParaRPr lang="tr-TR" u="sng" dirty="0" smtClean="0"/>
          </a:p>
          <a:p>
            <a:r>
              <a:rPr lang="tr-TR" dirty="0" err="1" smtClean="0"/>
              <a:t>Sample</a:t>
            </a:r>
            <a:r>
              <a:rPr lang="tr-TR" dirty="0" smtClean="0"/>
              <a:t> is </a:t>
            </a:r>
            <a:r>
              <a:rPr lang="tr-TR" dirty="0" err="1" smtClean="0"/>
              <a:t>heatedfrom</a:t>
            </a:r>
            <a:r>
              <a:rPr lang="tr-TR" dirty="0" smtClean="0"/>
              <a:t> 25</a:t>
            </a:r>
            <a:r>
              <a:rPr lang="tr-TR" dirty="0" smtClean="0"/>
              <a:t> °C </a:t>
            </a:r>
            <a:r>
              <a:rPr lang="tr-TR" dirty="0" err="1" smtClean="0"/>
              <a:t>to</a:t>
            </a:r>
            <a:r>
              <a:rPr lang="tr-TR" dirty="0" smtClean="0"/>
              <a:t> 350</a:t>
            </a:r>
            <a:r>
              <a:rPr lang="tr-TR" dirty="0" smtClean="0"/>
              <a:t> °C </a:t>
            </a:r>
            <a:r>
              <a:rPr lang="tr-TR" dirty="0" smtClean="0"/>
              <a:t>(at rate of 10</a:t>
            </a:r>
            <a:r>
              <a:rPr lang="tr-TR" dirty="0" smtClean="0"/>
              <a:t> °C </a:t>
            </a:r>
            <a:r>
              <a:rPr lang="tr-TR" dirty="0" smtClean="0"/>
              <a:t>/</a:t>
            </a:r>
            <a:r>
              <a:rPr lang="tr-TR" dirty="0" err="1" smtClean="0"/>
              <a:t>min</a:t>
            </a:r>
            <a:r>
              <a:rPr lang="tr-TR" dirty="0" smtClean="0"/>
              <a:t>)</a:t>
            </a:r>
          </a:p>
          <a:p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determine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glass</a:t>
            </a:r>
            <a:r>
              <a:rPr lang="tr-TR" dirty="0" smtClean="0"/>
              <a:t> </a:t>
            </a:r>
            <a:r>
              <a:rPr lang="tr-TR" dirty="0" err="1" smtClean="0"/>
              <a:t>transition</a:t>
            </a:r>
            <a:r>
              <a:rPr lang="tr-TR" dirty="0" smtClean="0"/>
              <a:t> </a:t>
            </a:r>
            <a:r>
              <a:rPr lang="tr-TR" dirty="0" err="1" smtClean="0"/>
              <a:t>temperature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adhesive</a:t>
            </a:r>
            <a:endParaRPr lang="tr-T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321527" y="2753092"/>
            <a:ext cx="9548947" cy="100901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1500" dirty="0" smtClean="0"/>
              <a:t>	</a:t>
            </a:r>
            <a:r>
              <a:rPr lang="en-US" sz="1500" b="1" dirty="0" smtClean="0"/>
              <a:t>Fig</a:t>
            </a:r>
            <a:r>
              <a:rPr lang="en-US" sz="1500" b="1" dirty="0" smtClean="0"/>
              <a:t>. 2. </a:t>
            </a:r>
            <a:r>
              <a:rPr lang="en-US" sz="1500" dirty="0" smtClean="0"/>
              <a:t>TGA-MS of water released (blue trace) from </a:t>
            </a:r>
            <a:r>
              <a:rPr lang="en-US" sz="1500" dirty="0" err="1" smtClean="0"/>
              <a:t>prepreg</a:t>
            </a:r>
            <a:r>
              <a:rPr lang="en-US" sz="1500" dirty="0" smtClean="0"/>
              <a:t> &amp; adhesive during </a:t>
            </a:r>
            <a:r>
              <a:rPr lang="en-US" sz="1500" dirty="0" smtClean="0"/>
              <a:t>the</a:t>
            </a:r>
            <a:r>
              <a:rPr lang="tr-TR" sz="1500" dirty="0" smtClean="0"/>
              <a:t> </a:t>
            </a:r>
            <a:r>
              <a:rPr lang="en-US" sz="1500" dirty="0" smtClean="0"/>
              <a:t>course </a:t>
            </a:r>
            <a:r>
              <a:rPr lang="en-US" sz="1500" dirty="0" smtClean="0"/>
              <a:t>of a heating regime (red trace). The ramp rate in (a) is 1.5 C/min while both ramps in (b) are 2 C/min. (For interpretation of the references to </a:t>
            </a:r>
            <a:r>
              <a:rPr lang="en-US" sz="1500" dirty="0" err="1" smtClean="0"/>
              <a:t>colour</a:t>
            </a:r>
            <a:r>
              <a:rPr lang="en-US" sz="1500" dirty="0" smtClean="0"/>
              <a:t> in this figure legend, the reader is referred to the web version of this article.)</a:t>
            </a:r>
            <a:endParaRPr lang="en-US" sz="15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27185" t="27500" r="28464" b="45536"/>
          <a:stretch>
            <a:fillRect/>
          </a:stretch>
        </p:blipFill>
        <p:spPr bwMode="auto">
          <a:xfrm>
            <a:off x="2442754" y="243461"/>
            <a:ext cx="7274911" cy="2486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27834" t="63542" r="28665" b="13750"/>
          <a:stretch>
            <a:fillRect/>
          </a:stretch>
        </p:blipFill>
        <p:spPr bwMode="auto">
          <a:xfrm>
            <a:off x="1667382" y="3579225"/>
            <a:ext cx="9168795" cy="2690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Dikdörtgen"/>
          <p:cNvSpPr/>
          <p:nvPr/>
        </p:nvSpPr>
        <p:spPr>
          <a:xfrm>
            <a:off x="3048000" y="6227863"/>
            <a:ext cx="6096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b="1" dirty="0" smtClean="0"/>
              <a:t>Fig. 3. </a:t>
            </a:r>
            <a:r>
              <a:rPr lang="en-US" sz="1500" dirty="0" smtClean="0"/>
              <a:t>Adhesive–substrate interface of each joint system. Magnification is </a:t>
            </a:r>
            <a:r>
              <a:rPr lang="en-US" sz="1500" dirty="0" smtClean="0"/>
              <a:t>10,000</a:t>
            </a:r>
            <a:r>
              <a:rPr lang="en-US" sz="1500" dirty="0" smtClean="0"/>
              <a:t>. 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4 </a:t>
            </a:r>
            <a:r>
              <a:rPr lang="tr-TR" dirty="0" err="1" smtClean="0"/>
              <a:t>Result</a:t>
            </a:r>
            <a:r>
              <a:rPr lang="tr-TR" dirty="0" smtClean="0"/>
              <a:t> &amp;</a:t>
            </a:r>
            <a:r>
              <a:rPr lang="tr-TR" dirty="0" err="1" smtClean="0"/>
              <a:t>Discussion</a:t>
            </a:r>
            <a:endParaRPr lang="en-US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tr-TR" sz="2400" u="sng" dirty="0" smtClean="0"/>
              <a:t>4.1 </a:t>
            </a:r>
            <a:r>
              <a:rPr lang="tr-TR" sz="2400" u="sng" dirty="0" err="1" smtClean="0"/>
              <a:t>Initiation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Fracture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Toughness</a:t>
            </a:r>
            <a:endParaRPr lang="tr-TR" sz="2400" u="sng" dirty="0" smtClean="0"/>
          </a:p>
          <a:p>
            <a:r>
              <a:rPr lang="tr-TR" sz="2400" dirty="0" smtClean="0"/>
              <a:t>Teflon film not </a:t>
            </a:r>
            <a:r>
              <a:rPr lang="tr-TR" sz="2400" dirty="0" err="1" smtClean="0"/>
              <a:t>giving</a:t>
            </a:r>
            <a:r>
              <a:rPr lang="tr-TR" sz="2400" dirty="0" smtClean="0"/>
              <a:t> a </a:t>
            </a:r>
            <a:r>
              <a:rPr lang="tr-TR" sz="2400" dirty="0" err="1" smtClean="0"/>
              <a:t>consistent</a:t>
            </a:r>
            <a:r>
              <a:rPr lang="tr-TR" sz="2400" dirty="0" smtClean="0"/>
              <a:t> </a:t>
            </a:r>
            <a:r>
              <a:rPr lang="tr-TR" sz="2400" dirty="0" err="1" smtClean="0"/>
              <a:t>starter</a:t>
            </a:r>
            <a:r>
              <a:rPr lang="tr-TR" sz="2400" dirty="0" smtClean="0"/>
              <a:t> </a:t>
            </a:r>
            <a:r>
              <a:rPr lang="tr-TR" sz="2400" dirty="0" err="1" smtClean="0"/>
              <a:t>defect</a:t>
            </a:r>
            <a:endParaRPr lang="tr-TR" sz="2400" dirty="0" smtClean="0"/>
          </a:p>
          <a:p>
            <a:endParaRPr lang="tr-TR" sz="2400" dirty="0" smtClean="0"/>
          </a:p>
          <a:p>
            <a:pPr>
              <a:buNone/>
            </a:pPr>
            <a:r>
              <a:rPr lang="tr-TR" sz="2400" u="sng" dirty="0" smtClean="0"/>
              <a:t>4.2 </a:t>
            </a:r>
            <a:r>
              <a:rPr lang="tr-TR" sz="2400" u="sng" dirty="0" err="1" smtClean="0"/>
              <a:t>Propagation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Fracture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Toughness</a:t>
            </a:r>
            <a:endParaRPr lang="tr-TR" sz="2400" u="sng" dirty="0" smtClean="0"/>
          </a:p>
          <a:p>
            <a:r>
              <a:rPr lang="tr-TR" sz="2400" dirty="0" smtClean="0"/>
              <a:t>R-</a:t>
            </a:r>
            <a:r>
              <a:rPr lang="tr-TR" sz="2400" dirty="0" err="1" smtClean="0"/>
              <a:t>curve</a:t>
            </a:r>
            <a:r>
              <a:rPr lang="tr-TR" sz="2400" dirty="0" smtClean="0"/>
              <a:t> </a:t>
            </a:r>
            <a:r>
              <a:rPr lang="tr-TR" sz="2400" dirty="0" err="1" smtClean="0"/>
              <a:t>beahviour</a:t>
            </a:r>
            <a:r>
              <a:rPr lang="tr-TR" sz="2400" dirty="0" smtClean="0"/>
              <a:t> is </a:t>
            </a:r>
            <a:r>
              <a:rPr lang="tr-TR" sz="2400" dirty="0" err="1" smtClean="0"/>
              <a:t>occured</a:t>
            </a:r>
            <a:r>
              <a:rPr lang="tr-TR" sz="2400" dirty="0" smtClean="0"/>
              <a:t>.</a:t>
            </a:r>
          </a:p>
          <a:p>
            <a:r>
              <a:rPr lang="tr-TR" sz="2400" dirty="0" err="1" smtClean="0"/>
              <a:t>Fracture</a:t>
            </a:r>
            <a:r>
              <a:rPr lang="tr-TR" sz="2400" dirty="0" smtClean="0"/>
              <a:t> </a:t>
            </a:r>
            <a:r>
              <a:rPr lang="tr-TR" sz="2400" dirty="0" err="1" smtClean="0"/>
              <a:t>energy</a:t>
            </a:r>
            <a:r>
              <a:rPr lang="tr-TR" sz="2400" dirty="0" smtClean="0"/>
              <a:t> </a:t>
            </a:r>
            <a:r>
              <a:rPr lang="tr-TR" sz="2400" dirty="0" err="1" smtClean="0"/>
              <a:t>increases</a:t>
            </a:r>
            <a:r>
              <a:rPr lang="tr-TR" sz="2400" dirty="0" smtClean="0"/>
              <a:t> </a:t>
            </a:r>
            <a:r>
              <a:rPr lang="tr-TR" sz="2400" dirty="0" err="1" smtClean="0"/>
              <a:t>with</a:t>
            </a:r>
            <a:r>
              <a:rPr lang="tr-TR" sz="2400" dirty="0" smtClean="0"/>
              <a:t> </a:t>
            </a:r>
            <a:r>
              <a:rPr lang="tr-TR" sz="2400" dirty="0" err="1" smtClean="0"/>
              <a:t>higher</a:t>
            </a:r>
            <a:r>
              <a:rPr lang="tr-TR" sz="2400" dirty="0" smtClean="0"/>
              <a:t> </a:t>
            </a:r>
            <a:r>
              <a:rPr lang="tr-TR" sz="2400" dirty="0" err="1" smtClean="0"/>
              <a:t>percentage</a:t>
            </a:r>
            <a:r>
              <a:rPr lang="tr-TR" sz="2400" dirty="0" smtClean="0"/>
              <a:t> </a:t>
            </a:r>
            <a:r>
              <a:rPr lang="tr-TR" sz="2400" dirty="0" err="1" smtClean="0"/>
              <a:t>mode</a:t>
            </a:r>
            <a:r>
              <a:rPr lang="tr-TR" sz="2400" dirty="0" smtClean="0"/>
              <a:t> II.</a:t>
            </a:r>
          </a:p>
          <a:p>
            <a:r>
              <a:rPr lang="tr-TR" sz="2400" dirty="0" err="1" smtClean="0"/>
              <a:t>Pure</a:t>
            </a:r>
            <a:r>
              <a:rPr lang="tr-TR" sz="2400" dirty="0" smtClean="0"/>
              <a:t> </a:t>
            </a:r>
            <a:r>
              <a:rPr lang="tr-TR" sz="2400" dirty="0" err="1" smtClean="0"/>
              <a:t>mode</a:t>
            </a:r>
            <a:r>
              <a:rPr lang="tr-TR" sz="2400" dirty="0" smtClean="0"/>
              <a:t> II </a:t>
            </a:r>
            <a:r>
              <a:rPr lang="tr-TR" sz="2400" dirty="0" err="1" smtClean="0"/>
              <a:t>fracture</a:t>
            </a:r>
            <a:r>
              <a:rPr lang="tr-TR" sz="2400" dirty="0" smtClean="0"/>
              <a:t> </a:t>
            </a:r>
            <a:r>
              <a:rPr lang="tr-TR" sz="2400" dirty="0" err="1" smtClean="0"/>
              <a:t>energy</a:t>
            </a:r>
            <a:r>
              <a:rPr lang="tr-TR" sz="2400" dirty="0" smtClean="0"/>
              <a:t> </a:t>
            </a:r>
            <a:r>
              <a:rPr lang="tr-TR" sz="2400" dirty="0" err="1" smtClean="0"/>
              <a:t>reaches</a:t>
            </a:r>
            <a:r>
              <a:rPr lang="tr-TR" sz="2400" dirty="0" smtClean="0"/>
              <a:t> 5-6 </a:t>
            </a:r>
            <a:r>
              <a:rPr lang="tr-TR" sz="2400" dirty="0" err="1" smtClean="0"/>
              <a:t>times</a:t>
            </a:r>
            <a:r>
              <a:rPr lang="tr-TR" sz="2400" dirty="0" smtClean="0"/>
              <a:t> of </a:t>
            </a:r>
            <a:r>
              <a:rPr lang="tr-TR" sz="2400" dirty="0" err="1" smtClean="0"/>
              <a:t>mode</a:t>
            </a:r>
            <a:r>
              <a:rPr lang="tr-TR" sz="2400" dirty="0" smtClean="0"/>
              <a:t> 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z="2400" dirty="0" smtClean="0">
                <a:solidFill>
                  <a:prstClr val="black"/>
                </a:solidFill>
              </a:rPr>
              <a:t>CC180 </a:t>
            </a:r>
            <a:r>
              <a:rPr lang="tr-TR" sz="2400" dirty="0" err="1" smtClean="0">
                <a:solidFill>
                  <a:prstClr val="black"/>
                </a:solidFill>
              </a:rPr>
              <a:t>joint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exhibits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interfacial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failure</a:t>
            </a:r>
            <a:r>
              <a:rPr lang="tr-TR" sz="2400" dirty="0" smtClean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tr-TR" sz="2400" dirty="0" err="1" smtClean="0">
                <a:solidFill>
                  <a:prstClr val="black"/>
                </a:solidFill>
              </a:rPr>
              <a:t>Secondary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bonded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failed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either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cohesively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or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interlaminarly</a:t>
            </a:r>
            <a:endParaRPr lang="tr-TR" sz="2400" dirty="0" smtClean="0">
              <a:solidFill>
                <a:prstClr val="black"/>
              </a:solidFill>
            </a:endParaRPr>
          </a:p>
          <a:p>
            <a:pPr lvl="0"/>
            <a:r>
              <a:rPr lang="tr-TR" sz="2400" dirty="0" err="1" smtClean="0">
                <a:solidFill>
                  <a:prstClr val="black"/>
                </a:solidFill>
              </a:rPr>
              <a:t>Interfacial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</a:rPr>
              <a:t>failure</a:t>
            </a:r>
            <a:r>
              <a:rPr lang="tr-TR" sz="2400" dirty="0" smtClean="0">
                <a:solidFill>
                  <a:prstClr val="black"/>
                </a:solidFill>
              </a:rPr>
              <a:t> in </a:t>
            </a:r>
            <a:r>
              <a:rPr lang="tr-TR" sz="2400" dirty="0" err="1" smtClean="0">
                <a:solidFill>
                  <a:prstClr val="black"/>
                </a:solidFill>
              </a:rPr>
              <a:t>several</a:t>
            </a:r>
            <a:r>
              <a:rPr lang="tr-TR" sz="2400" dirty="0" smtClean="0">
                <a:solidFill>
                  <a:prstClr val="black"/>
                </a:solidFill>
              </a:rPr>
              <a:t> CC180 in </a:t>
            </a:r>
            <a:r>
              <a:rPr lang="tr-TR" sz="2400" dirty="0" err="1" smtClean="0">
                <a:solidFill>
                  <a:prstClr val="black"/>
                </a:solidFill>
              </a:rPr>
              <a:t>mixed</a:t>
            </a:r>
            <a:r>
              <a:rPr lang="tr-TR" sz="2400" dirty="0" smtClean="0">
                <a:solidFill>
                  <a:prstClr val="black"/>
                </a:solidFill>
              </a:rPr>
              <a:t>-</a:t>
            </a:r>
            <a:r>
              <a:rPr lang="tr-TR" sz="2400" dirty="0" err="1" smtClean="0">
                <a:solidFill>
                  <a:prstClr val="black"/>
                </a:solidFill>
              </a:rPr>
              <a:t>mode</a:t>
            </a:r>
            <a:r>
              <a:rPr lang="tr-TR" sz="2400" dirty="0" smtClean="0">
                <a:solidFill>
                  <a:prstClr val="black"/>
                </a:solidFill>
              </a:rPr>
              <a:t> 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 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by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voids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 at 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the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interface</a:t>
            </a:r>
            <a:endParaRPr lang="tr-TR" sz="2400" dirty="0" smtClean="0">
              <a:solidFill>
                <a:prstClr val="black"/>
              </a:solidFill>
              <a:sym typeface="Wingdings" pitchFamily="2" charset="2"/>
            </a:endParaRPr>
          </a:p>
          <a:p>
            <a:pPr lvl="0"/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Interlaminar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failure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 in 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some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 SB180 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and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 SB120  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grit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-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blastered</a:t>
            </a:r>
            <a:r>
              <a:rPr lang="tr-TR" sz="2400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tr-TR" sz="2400" dirty="0" err="1" smtClean="0">
                <a:solidFill>
                  <a:prstClr val="black"/>
                </a:solidFill>
                <a:sym typeface="Wingdings" pitchFamily="2" charset="2"/>
              </a:rPr>
              <a:t>surface</a:t>
            </a:r>
            <a:endParaRPr lang="en-US" sz="2400" dirty="0" smtClean="0">
              <a:solidFill>
                <a:prstClr val="black"/>
              </a:solidFill>
            </a:endParaRP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30421" t="38393" r="32533" b="39821"/>
          <a:stretch>
            <a:fillRect/>
          </a:stretch>
        </p:blipFill>
        <p:spPr bwMode="auto">
          <a:xfrm>
            <a:off x="2232660" y="3863652"/>
            <a:ext cx="7700555" cy="254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36243" t="66607" r="37553" b="9286"/>
          <a:stretch>
            <a:fillRect/>
          </a:stretch>
        </p:blipFill>
        <p:spPr bwMode="auto">
          <a:xfrm>
            <a:off x="6492240" y="644137"/>
            <a:ext cx="5699760" cy="29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36243" t="42381" r="37553" b="33333"/>
          <a:stretch>
            <a:fillRect/>
          </a:stretch>
        </p:blipFill>
        <p:spPr bwMode="auto">
          <a:xfrm>
            <a:off x="3135086" y="3775167"/>
            <a:ext cx="5916320" cy="3082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36243" t="18571" r="37553" b="57917"/>
          <a:stretch>
            <a:fillRect/>
          </a:stretch>
        </p:blipFill>
        <p:spPr bwMode="auto">
          <a:xfrm>
            <a:off x="0" y="783772"/>
            <a:ext cx="5775317" cy="2913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tr-TR" sz="2400" u="sng" dirty="0" smtClean="0"/>
              <a:t>4.3 </a:t>
            </a:r>
            <a:r>
              <a:rPr lang="tr-TR" sz="2400" u="sng" dirty="0" err="1" smtClean="0"/>
              <a:t>Failure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Criteria</a:t>
            </a:r>
            <a:endParaRPr lang="tr-TR" sz="2400" u="sng" dirty="0" smtClean="0"/>
          </a:p>
          <a:p>
            <a:r>
              <a:rPr lang="tr-TR" sz="2400" dirty="0" err="1" smtClean="0"/>
              <a:t>Experimental</a:t>
            </a:r>
            <a:r>
              <a:rPr lang="tr-TR" sz="2400" dirty="0" smtClean="0"/>
              <a:t> data </a:t>
            </a:r>
            <a:r>
              <a:rPr lang="tr-TR" sz="2400" dirty="0" err="1" smtClean="0"/>
              <a:t>fits</a:t>
            </a:r>
            <a:r>
              <a:rPr lang="tr-TR" sz="2400" dirty="0" smtClean="0"/>
              <a:t> </a:t>
            </a:r>
            <a:r>
              <a:rPr lang="tr-TR" sz="2400" dirty="0" err="1" smtClean="0"/>
              <a:t>Benzeggagh</a:t>
            </a:r>
            <a:r>
              <a:rPr lang="tr-TR" sz="2400" dirty="0" smtClean="0"/>
              <a:t> </a:t>
            </a:r>
            <a:r>
              <a:rPr lang="tr-TR" sz="2400" dirty="0" err="1" smtClean="0"/>
              <a:t>failure</a:t>
            </a:r>
            <a:r>
              <a:rPr lang="tr-TR" sz="2400" dirty="0" smtClean="0"/>
              <a:t> </a:t>
            </a:r>
            <a:r>
              <a:rPr lang="tr-TR" sz="2400" dirty="0" err="1" smtClean="0"/>
              <a:t>criteria</a:t>
            </a:r>
            <a:endParaRPr lang="tr-TR" sz="2400" dirty="0" smtClean="0"/>
          </a:p>
          <a:p>
            <a:endParaRPr lang="tr-TR" sz="2400" dirty="0" smtClean="0"/>
          </a:p>
          <a:p>
            <a:endParaRPr lang="tr-TR" sz="2400" dirty="0" smtClean="0"/>
          </a:p>
          <a:p>
            <a:endParaRPr lang="tr-TR" sz="2400" dirty="0" smtClean="0"/>
          </a:p>
          <a:p>
            <a:endParaRPr lang="tr-TR" sz="2400" dirty="0" smtClean="0"/>
          </a:p>
          <a:p>
            <a:endParaRPr lang="tr-TR" sz="2400" dirty="0" smtClean="0"/>
          </a:p>
          <a:p>
            <a:endParaRPr lang="tr-TR" sz="2400" dirty="0" smtClean="0"/>
          </a:p>
          <a:p>
            <a:r>
              <a:rPr lang="tr-TR" sz="2400" dirty="0" smtClean="0"/>
              <a:t>CC180 is </a:t>
            </a:r>
            <a:r>
              <a:rPr lang="tr-TR" sz="2400" dirty="0" err="1" smtClean="0"/>
              <a:t>by</a:t>
            </a:r>
            <a:r>
              <a:rPr lang="tr-TR" sz="2400" dirty="0" smtClean="0"/>
              <a:t> far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weakest</a:t>
            </a:r>
            <a:endParaRPr lang="tr-TR" sz="2400" dirty="0" smtClean="0"/>
          </a:p>
          <a:p>
            <a:r>
              <a:rPr lang="tr-TR" sz="2400" dirty="0" smtClean="0"/>
              <a:t>SB is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toughness</a:t>
            </a:r>
            <a:endParaRPr lang="tr-TR" sz="2400" dirty="0" smtClean="0"/>
          </a:p>
          <a:p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31023" t="45357" r="33035" b="37500"/>
          <a:stretch>
            <a:fillRect/>
          </a:stretch>
        </p:blipFill>
        <p:spPr bwMode="auto">
          <a:xfrm>
            <a:off x="871671" y="2664823"/>
            <a:ext cx="9304296" cy="2495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sz="2400" u="sng" dirty="0" smtClean="0"/>
              <a:t>4.4 </a:t>
            </a:r>
            <a:r>
              <a:rPr lang="tr-TR" sz="2400" u="sng" dirty="0" err="1" smtClean="0"/>
              <a:t>Thermal</a:t>
            </a:r>
            <a:r>
              <a:rPr lang="tr-TR" sz="2400" u="sng" dirty="0" smtClean="0"/>
              <a:t> </a:t>
            </a:r>
            <a:r>
              <a:rPr lang="tr-TR" sz="2400" u="sng" dirty="0" err="1" smtClean="0"/>
              <a:t>Analysis</a:t>
            </a:r>
            <a:endParaRPr lang="tr-TR" sz="2400" u="sng" dirty="0" smtClean="0"/>
          </a:p>
          <a:p>
            <a:r>
              <a:rPr lang="tr-TR" sz="2400" dirty="0" err="1" smtClean="0"/>
              <a:t>Curing</a:t>
            </a:r>
            <a:r>
              <a:rPr lang="tr-TR" sz="2400" dirty="0" smtClean="0"/>
              <a:t> </a:t>
            </a:r>
            <a:r>
              <a:rPr lang="tr-TR" sz="2400" dirty="0" err="1" smtClean="0"/>
              <a:t>conditions</a:t>
            </a:r>
            <a:r>
              <a:rPr lang="tr-TR" sz="2400" dirty="0" smtClean="0"/>
              <a:t> </a:t>
            </a:r>
            <a:r>
              <a:rPr lang="tr-TR" sz="2400" dirty="0" err="1" smtClean="0"/>
              <a:t>affect</a:t>
            </a:r>
            <a:r>
              <a:rPr lang="tr-TR" sz="2400" dirty="0" smtClean="0"/>
              <a:t>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glass</a:t>
            </a:r>
            <a:r>
              <a:rPr lang="tr-TR" sz="2400" dirty="0" smtClean="0"/>
              <a:t> </a:t>
            </a:r>
            <a:r>
              <a:rPr lang="tr-TR" sz="2400" dirty="0" err="1" smtClean="0"/>
              <a:t>transition</a:t>
            </a:r>
            <a:r>
              <a:rPr lang="tr-TR" sz="2400" dirty="0" smtClean="0"/>
              <a:t> </a:t>
            </a:r>
            <a:r>
              <a:rPr lang="tr-TR" sz="2400" dirty="0" err="1" smtClean="0"/>
              <a:t>temperature</a:t>
            </a:r>
            <a:r>
              <a:rPr lang="tr-TR" sz="2400" dirty="0" smtClean="0"/>
              <a:t> of </a:t>
            </a:r>
            <a:r>
              <a:rPr lang="tr-TR" sz="2400" dirty="0" err="1" smtClean="0"/>
              <a:t>the</a:t>
            </a:r>
            <a:r>
              <a:rPr lang="tr-TR" sz="2400" dirty="0" smtClean="0"/>
              <a:t> </a:t>
            </a:r>
            <a:r>
              <a:rPr lang="tr-TR" sz="2400" dirty="0" err="1" smtClean="0"/>
              <a:t>adhesive</a:t>
            </a:r>
            <a:r>
              <a:rPr lang="tr-TR" sz="2400" dirty="0" smtClean="0"/>
              <a:t>.</a:t>
            </a:r>
          </a:p>
          <a:p>
            <a:r>
              <a:rPr lang="tr-TR" sz="2400" dirty="0" err="1" smtClean="0"/>
              <a:t>Expected</a:t>
            </a:r>
            <a:r>
              <a:rPr lang="tr-TR" sz="2400" dirty="0" smtClean="0"/>
              <a:t>:</a:t>
            </a:r>
          </a:p>
          <a:p>
            <a:pPr lvl="1"/>
            <a:r>
              <a:rPr lang="tr-TR" dirty="0" err="1" smtClean="0"/>
              <a:t>Higher</a:t>
            </a:r>
            <a:r>
              <a:rPr lang="tr-TR" dirty="0" smtClean="0"/>
              <a:t> </a:t>
            </a:r>
            <a:r>
              <a:rPr lang="tr-TR" dirty="0" err="1" smtClean="0"/>
              <a:t>cure</a:t>
            </a:r>
            <a:r>
              <a:rPr lang="tr-TR" dirty="0" smtClean="0"/>
              <a:t> </a:t>
            </a:r>
            <a:r>
              <a:rPr lang="tr-TR" dirty="0" err="1" smtClean="0"/>
              <a:t>temperature</a:t>
            </a:r>
            <a:r>
              <a:rPr lang="tr-TR" dirty="0" smtClean="0"/>
              <a:t> of SB180 </a:t>
            </a:r>
            <a:r>
              <a:rPr lang="tr-TR" dirty="0" err="1" smtClean="0"/>
              <a:t>should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 </a:t>
            </a:r>
            <a:r>
              <a:rPr lang="tr-TR" dirty="0" err="1" smtClean="0"/>
              <a:t>higher</a:t>
            </a:r>
            <a:r>
              <a:rPr lang="tr-TR" dirty="0" smtClean="0"/>
              <a:t>      </a:t>
            </a:r>
            <a:r>
              <a:rPr lang="tr-TR" dirty="0" err="1" smtClean="0"/>
              <a:t>than</a:t>
            </a:r>
            <a:r>
              <a:rPr lang="tr-TR" dirty="0" smtClean="0"/>
              <a:t> SB120.</a:t>
            </a:r>
            <a:endParaRPr lang="en-US" dirty="0"/>
          </a:p>
        </p:txBody>
      </p:sp>
      <p:pic>
        <p:nvPicPr>
          <p:cNvPr id="7170" name="Picture 2" descr="C:\Users\ASUS\Desktop\CodeCogsEqn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1038" y="3186521"/>
            <a:ext cx="281260" cy="2978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858</Words>
  <Application>Microsoft Office PowerPoint</Application>
  <PresentationFormat>Özel</PresentationFormat>
  <Paragraphs>162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26" baseType="lpstr">
      <vt:lpstr>Office Theme</vt:lpstr>
      <vt:lpstr>Effect of an Atmospheric Pressure Plasma Treatment on the Mode I Fracture Toughness of a Co-Cured Composite Joint</vt:lpstr>
      <vt:lpstr>1.Introduction</vt:lpstr>
      <vt:lpstr>Slayt 3</vt:lpstr>
      <vt:lpstr>2.Manufacture&amp;Methods</vt:lpstr>
      <vt:lpstr>Slayt 5</vt:lpstr>
      <vt:lpstr>Slayt 6</vt:lpstr>
      <vt:lpstr>Slayt 7</vt:lpstr>
      <vt:lpstr>3 Result&amp;Discussion</vt:lpstr>
      <vt:lpstr>Slayt 9</vt:lpstr>
      <vt:lpstr>Slayt 10</vt:lpstr>
      <vt:lpstr>4 Conclusion</vt:lpstr>
      <vt:lpstr>Mixed-Mode Fracture Toughness of Co-Cured and Secondary Bonded Composite Joints</vt:lpstr>
      <vt:lpstr>1 Introduction</vt:lpstr>
      <vt:lpstr>Slayt 14</vt:lpstr>
      <vt:lpstr>2 Materials &amp; Manufacture of Joints</vt:lpstr>
      <vt:lpstr>3 Experimental Methods</vt:lpstr>
      <vt:lpstr>Slayt 17</vt:lpstr>
      <vt:lpstr>Slayt 18</vt:lpstr>
      <vt:lpstr>Slayt 19</vt:lpstr>
      <vt:lpstr>Slayt 20</vt:lpstr>
      <vt:lpstr>4 Result &amp;Discussion</vt:lpstr>
      <vt:lpstr>Slayt 22</vt:lpstr>
      <vt:lpstr>Slayt 23</vt:lpstr>
      <vt:lpstr>Slayt 24</vt:lpstr>
      <vt:lpstr>Slayt 25</vt:lpstr>
    </vt:vector>
  </TitlesOfParts>
  <Company>TAI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Adhesive Bonding</dc:title>
  <dc:creator>Mehmet Erdem İri̇ş</dc:creator>
  <cp:lastModifiedBy>Mert Limoncuoğlu</cp:lastModifiedBy>
  <cp:revision>17</cp:revision>
  <dcterms:created xsi:type="dcterms:W3CDTF">2018-03-27T12:59:21Z</dcterms:created>
  <dcterms:modified xsi:type="dcterms:W3CDTF">2018-04-02T21:39:16Z</dcterms:modified>
</cp:coreProperties>
</file>