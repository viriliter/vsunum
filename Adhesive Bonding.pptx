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971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496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7303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657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815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574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981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026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49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563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732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AD823-24A2-4B3A-8F52-569B17163690}" type="datetimeFigureOut">
              <a:rPr lang="tr-TR" smtClean="0"/>
              <a:t>27.3.2018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F5B4-8F03-4D51-8D5D-879C942927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625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07899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Effect of an Atmospheric Pressure Plasma Treatment on the Mode I Fracture Toughness of a Co-Cured Composite Joint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3874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1.Introduction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err="1" smtClean="0"/>
              <a:t>Convenient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co-cure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two</a:t>
            </a:r>
            <a:r>
              <a:rPr lang="tr-TR" sz="2400" dirty="0" smtClean="0"/>
              <a:t> </a:t>
            </a:r>
            <a:r>
              <a:rPr lang="tr-TR" sz="2400" dirty="0" err="1" smtClean="0"/>
              <a:t>materials</a:t>
            </a:r>
            <a:r>
              <a:rPr lang="tr-TR" sz="2400" dirty="0" smtClean="0"/>
              <a:t> </a:t>
            </a:r>
            <a:r>
              <a:rPr lang="tr-TR" sz="2400" dirty="0" err="1" smtClean="0"/>
              <a:t>using</a:t>
            </a:r>
            <a:r>
              <a:rPr lang="tr-TR" sz="2400" dirty="0" smtClean="0"/>
              <a:t> </a:t>
            </a:r>
            <a:r>
              <a:rPr lang="tr-TR" sz="2400" dirty="0" err="1" smtClean="0"/>
              <a:t>single</a:t>
            </a:r>
            <a:r>
              <a:rPr lang="tr-TR" sz="2400" dirty="0" smtClean="0"/>
              <a:t> </a:t>
            </a:r>
            <a:r>
              <a:rPr lang="tr-TR" sz="2400" dirty="0" err="1" smtClean="0"/>
              <a:t>processing</a:t>
            </a:r>
            <a:r>
              <a:rPr lang="tr-TR" sz="2400" dirty="0" smtClean="0"/>
              <a:t> </a:t>
            </a:r>
            <a:r>
              <a:rPr lang="tr-TR" sz="2400" dirty="0" err="1" smtClean="0"/>
              <a:t>process</a:t>
            </a:r>
            <a:endParaRPr lang="tr-TR" sz="2400" dirty="0" smtClean="0"/>
          </a:p>
          <a:p>
            <a:pPr marL="0" indent="0">
              <a:buNone/>
            </a:pPr>
            <a:endParaRPr lang="tr-TR" sz="2400" dirty="0" smtClean="0"/>
          </a:p>
          <a:p>
            <a:r>
              <a:rPr lang="tr-TR" sz="2400" dirty="0" err="1" smtClean="0"/>
              <a:t>Pros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Reduces</a:t>
            </a:r>
            <a:r>
              <a:rPr lang="tr-TR" dirty="0" smtClean="0"/>
              <a:t> </a:t>
            </a:r>
            <a:r>
              <a:rPr lang="tr-TR" dirty="0" err="1" smtClean="0"/>
              <a:t>cost</a:t>
            </a:r>
            <a:endParaRPr lang="tr-TR" dirty="0" smtClean="0"/>
          </a:p>
          <a:p>
            <a:pPr lvl="1"/>
            <a:r>
              <a:rPr lang="tr-TR" dirty="0" err="1" smtClean="0"/>
              <a:t>Reduce</a:t>
            </a:r>
            <a:r>
              <a:rPr lang="tr-TR" dirty="0" smtClean="0"/>
              <a:t> </a:t>
            </a:r>
            <a:r>
              <a:rPr lang="tr-TR" dirty="0" err="1" smtClean="0"/>
              <a:t>processing</a:t>
            </a:r>
            <a:r>
              <a:rPr lang="tr-TR" dirty="0" smtClean="0"/>
              <a:t> time</a:t>
            </a:r>
          </a:p>
          <a:p>
            <a:r>
              <a:rPr lang="tr-TR" sz="2400" dirty="0" err="1" smtClean="0"/>
              <a:t>Cons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Epoxy</a:t>
            </a:r>
            <a:r>
              <a:rPr lang="tr-TR" dirty="0" smtClean="0"/>
              <a:t> </a:t>
            </a:r>
            <a:r>
              <a:rPr lang="tr-TR" dirty="0" err="1" smtClean="0"/>
              <a:t>resin</a:t>
            </a:r>
            <a:r>
              <a:rPr lang="tr-TR" dirty="0" smtClean="0"/>
              <a:t> </a:t>
            </a:r>
            <a:r>
              <a:rPr lang="tr-TR" dirty="0" err="1" smtClean="0"/>
              <a:t>contains</a:t>
            </a:r>
            <a:r>
              <a:rPr lang="tr-TR" dirty="0" smtClean="0"/>
              <a:t> </a:t>
            </a:r>
            <a:r>
              <a:rPr lang="tr-TR" dirty="0" err="1" smtClean="0"/>
              <a:t>moisture</a:t>
            </a:r>
            <a:r>
              <a:rPr lang="tr-TR" dirty="0" smtClean="0"/>
              <a:t>(</a:t>
            </a:r>
            <a:r>
              <a:rPr lang="tr-TR" dirty="0" err="1" smtClean="0"/>
              <a:t>free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bounded</a:t>
            </a:r>
            <a:r>
              <a:rPr lang="tr-TR" dirty="0" smtClean="0"/>
              <a:t>) </a:t>
            </a:r>
            <a:r>
              <a:rPr lang="tr-TR" dirty="0" smtClean="0">
                <a:sym typeface="Wingdings" panose="05000000000000000000" pitchFamily="2" charset="2"/>
              </a:rPr>
              <a:t></a:t>
            </a:r>
            <a:r>
              <a:rPr lang="tr-TR" dirty="0" smtClean="0"/>
              <a:t> </a:t>
            </a:r>
            <a:r>
              <a:rPr lang="tr-TR" dirty="0" err="1" smtClean="0"/>
              <a:t>interfacial</a:t>
            </a:r>
            <a:r>
              <a:rPr lang="tr-TR" dirty="0" smtClean="0"/>
              <a:t> </a:t>
            </a:r>
            <a:r>
              <a:rPr lang="tr-TR" dirty="0" err="1" smtClean="0"/>
              <a:t>failure</a:t>
            </a:r>
            <a:endParaRPr lang="tr-TR" dirty="0" smtClean="0"/>
          </a:p>
          <a:p>
            <a:pPr lvl="1"/>
            <a:endParaRPr lang="tr-TR" dirty="0" smtClean="0"/>
          </a:p>
          <a:p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eleminate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drawback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Apply</a:t>
            </a:r>
            <a:r>
              <a:rPr lang="tr-TR" dirty="0" smtClean="0"/>
              <a:t> </a:t>
            </a:r>
            <a:r>
              <a:rPr lang="tr-TR" dirty="0" err="1" smtClean="0"/>
              <a:t>plasma</a:t>
            </a:r>
            <a:r>
              <a:rPr lang="tr-TR" dirty="0" smtClean="0"/>
              <a:t> </a:t>
            </a:r>
            <a:r>
              <a:rPr lang="tr-TR" dirty="0" err="1" smtClean="0"/>
              <a:t>treatment</a:t>
            </a:r>
            <a:r>
              <a:rPr lang="tr-TR" dirty="0" smtClean="0"/>
              <a:t> on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err="1" smtClean="0">
                <a:sym typeface="Wingdings" panose="05000000000000000000" pitchFamily="2" charset="2"/>
              </a:rPr>
              <a:t>Too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much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treatment</a:t>
            </a:r>
            <a:r>
              <a:rPr lang="tr-TR" dirty="0" smtClean="0">
                <a:sym typeface="Wingdings" panose="05000000000000000000" pitchFamily="2" charset="2"/>
              </a:rPr>
              <a:t> is </a:t>
            </a:r>
            <a:r>
              <a:rPr lang="tr-TR" dirty="0" err="1" smtClean="0">
                <a:sym typeface="Wingdings" panose="05000000000000000000" pitchFamily="2" charset="2"/>
              </a:rPr>
              <a:t>detrimental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61089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Most</a:t>
            </a:r>
            <a:r>
              <a:rPr lang="tr-TR" dirty="0" smtClean="0"/>
              <a:t> </a:t>
            </a:r>
            <a:r>
              <a:rPr lang="tr-TR" dirty="0" err="1" smtClean="0"/>
              <a:t>paper</a:t>
            </a:r>
            <a:r>
              <a:rPr lang="tr-TR" dirty="0" smtClean="0"/>
              <a:t> </a:t>
            </a:r>
            <a:r>
              <a:rPr lang="tr-TR" dirty="0" err="1" smtClean="0"/>
              <a:t>focuses</a:t>
            </a:r>
            <a:r>
              <a:rPr lang="tr-TR" dirty="0" smtClean="0"/>
              <a:t> </a:t>
            </a:r>
            <a:r>
              <a:rPr lang="tr-TR" dirty="0" err="1" smtClean="0"/>
              <a:t>plasma</a:t>
            </a:r>
            <a:r>
              <a:rPr lang="tr-TR" dirty="0" smtClean="0"/>
              <a:t> </a:t>
            </a:r>
            <a:r>
              <a:rPr lang="tr-TR" dirty="0" err="1" smtClean="0"/>
              <a:t>treatment</a:t>
            </a:r>
            <a:r>
              <a:rPr lang="tr-TR" dirty="0" smtClean="0"/>
              <a:t> on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bonding</a:t>
            </a:r>
            <a:r>
              <a:rPr lang="tr-TR" dirty="0" smtClean="0"/>
              <a:t> </a:t>
            </a:r>
            <a:r>
              <a:rPr lang="tr-TR" dirty="0" err="1" smtClean="0"/>
              <a:t>composite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paper</a:t>
            </a:r>
            <a:r>
              <a:rPr lang="tr-TR" dirty="0" smtClean="0"/>
              <a:t> </a:t>
            </a:r>
            <a:r>
              <a:rPr lang="tr-TR" dirty="0" err="1" smtClean="0"/>
              <a:t>investigates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effect</a:t>
            </a:r>
            <a:r>
              <a:rPr lang="tr-TR" dirty="0" smtClean="0"/>
              <a:t> on </a:t>
            </a:r>
            <a:r>
              <a:rPr lang="tr-TR" dirty="0" err="1" smtClean="0"/>
              <a:t>co-cured</a:t>
            </a:r>
            <a:r>
              <a:rPr lang="tr-TR" dirty="0" smtClean="0"/>
              <a:t> </a:t>
            </a:r>
            <a:r>
              <a:rPr lang="tr-TR" dirty="0" err="1" smtClean="0"/>
              <a:t>joints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323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2.Manufacture&amp;Methods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err="1" smtClean="0"/>
              <a:t>Materials</a:t>
            </a:r>
            <a:r>
              <a:rPr lang="tr-TR" sz="2400" dirty="0" smtClean="0"/>
              <a:t>:</a:t>
            </a:r>
          </a:p>
          <a:p>
            <a:r>
              <a:rPr lang="tr-TR" sz="2400" dirty="0" smtClean="0"/>
              <a:t>177 °C </a:t>
            </a:r>
            <a:r>
              <a:rPr lang="tr-TR" sz="2400" dirty="0" err="1" smtClean="0"/>
              <a:t>cure</a:t>
            </a:r>
            <a:r>
              <a:rPr lang="tr-TR" sz="2400" dirty="0" smtClean="0"/>
              <a:t> </a:t>
            </a:r>
            <a:r>
              <a:rPr lang="tr-TR" sz="2400" dirty="0" err="1" smtClean="0"/>
              <a:t>unidirectional</a:t>
            </a:r>
            <a:r>
              <a:rPr lang="tr-TR" sz="2400" dirty="0" smtClean="0"/>
              <a:t> </a:t>
            </a:r>
            <a:r>
              <a:rPr lang="tr-TR" sz="2400" dirty="0" err="1" smtClean="0"/>
              <a:t>carbon</a:t>
            </a:r>
            <a:r>
              <a:rPr lang="tr-TR" sz="2400" dirty="0" smtClean="0"/>
              <a:t>-fiber/</a:t>
            </a:r>
            <a:r>
              <a:rPr lang="tr-TR" sz="2400" dirty="0" err="1" smtClean="0"/>
              <a:t>epoxy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(CYCOM 977-2/HTS)</a:t>
            </a:r>
          </a:p>
          <a:p>
            <a:r>
              <a:rPr lang="tr-TR" sz="2400" dirty="0" smtClean="0"/>
              <a:t>Dual 120/177</a:t>
            </a:r>
            <a:r>
              <a:rPr lang="tr-TR" sz="2400" dirty="0" smtClean="0"/>
              <a:t> °C  </a:t>
            </a:r>
            <a:r>
              <a:rPr lang="tr-TR" sz="2400" dirty="0" err="1" smtClean="0"/>
              <a:t>cure</a:t>
            </a:r>
            <a:r>
              <a:rPr lang="tr-TR" sz="2400" dirty="0" smtClean="0"/>
              <a:t> </a:t>
            </a:r>
            <a:r>
              <a:rPr lang="tr-TR" sz="2400" dirty="0" err="1" smtClean="0"/>
              <a:t>epoxy</a:t>
            </a:r>
            <a:r>
              <a:rPr lang="tr-TR" sz="2400" dirty="0" smtClean="0"/>
              <a:t> film </a:t>
            </a:r>
            <a:r>
              <a:rPr lang="tr-TR" sz="2400" dirty="0" err="1" smtClean="0"/>
              <a:t>adhesive</a:t>
            </a:r>
            <a:r>
              <a:rPr lang="tr-TR" sz="2400" dirty="0" smtClean="0"/>
              <a:t> (FM300-2M)</a:t>
            </a:r>
          </a:p>
          <a:p>
            <a:endParaRPr lang="tr-TR" sz="2400" dirty="0"/>
          </a:p>
          <a:p>
            <a:pPr marL="0" indent="0">
              <a:buNone/>
            </a:pPr>
            <a:r>
              <a:rPr lang="tr-TR" sz="2400" dirty="0" err="1" smtClean="0"/>
              <a:t>Each</a:t>
            </a:r>
            <a:r>
              <a:rPr lang="tr-TR" sz="2400" dirty="0" smtClean="0"/>
              <a:t> </a:t>
            </a:r>
            <a:r>
              <a:rPr lang="tr-TR" sz="2400" dirty="0" err="1" smtClean="0"/>
              <a:t>substrate</a:t>
            </a:r>
            <a:r>
              <a:rPr lang="tr-TR" sz="2400" dirty="0" smtClean="0"/>
              <a:t> </a:t>
            </a:r>
            <a:r>
              <a:rPr lang="tr-TR" sz="2400" dirty="0" err="1" smtClean="0"/>
              <a:t>consists</a:t>
            </a:r>
            <a:r>
              <a:rPr lang="tr-TR" sz="2400" dirty="0" smtClean="0"/>
              <a:t> 10plies of 977-2/HTS </a:t>
            </a:r>
            <a:r>
              <a:rPr lang="tr-TR" sz="2400" dirty="0" err="1" smtClean="0"/>
              <a:t>prepreg</a:t>
            </a:r>
            <a:endParaRPr lang="tr-TR" sz="2400" dirty="0" smtClean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r>
              <a:rPr lang="tr-TR" sz="2400" dirty="0" err="1" smtClean="0"/>
              <a:t>Specimen</a:t>
            </a:r>
            <a:r>
              <a:rPr lang="tr-TR" sz="2400" dirty="0" smtClean="0"/>
              <a:t>:</a:t>
            </a:r>
          </a:p>
          <a:p>
            <a:pPr marL="0" indent="0">
              <a:buNone/>
            </a:pPr>
            <a:r>
              <a:rPr lang="tr-TR" sz="2400" dirty="0" smtClean="0"/>
              <a:t>Width:25mm Length:150mm Thickness:5.6mm </a:t>
            </a:r>
            <a:r>
              <a:rPr lang="tr-TR" sz="2400" dirty="0" err="1" smtClean="0"/>
              <a:t>Initial</a:t>
            </a:r>
            <a:r>
              <a:rPr lang="tr-TR" sz="2400" dirty="0" smtClean="0"/>
              <a:t> </a:t>
            </a:r>
            <a:r>
              <a:rPr lang="tr-TR" sz="2400" dirty="0" err="1" smtClean="0"/>
              <a:t>Crack</a:t>
            </a:r>
            <a:r>
              <a:rPr lang="tr-TR" sz="2400" dirty="0" smtClean="0"/>
              <a:t> Size:45mm </a:t>
            </a:r>
          </a:p>
        </p:txBody>
      </p:sp>
    </p:spTree>
    <p:extLst>
      <p:ext uri="{BB962C8B-B14F-4D97-AF65-F5344CB8AC3E}">
        <p14:creationId xmlns:p14="http://schemas.microsoft.com/office/powerpoint/2010/main" val="235579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2.1 </a:t>
            </a:r>
            <a:r>
              <a:rPr lang="tr-TR" u="sng" dirty="0" err="1" smtClean="0"/>
              <a:t>Fracture</a:t>
            </a:r>
            <a:r>
              <a:rPr lang="tr-TR" u="sng" dirty="0" smtClean="0"/>
              <a:t> Test </a:t>
            </a:r>
            <a:r>
              <a:rPr lang="tr-TR" u="sng" dirty="0" err="1" smtClean="0"/>
              <a:t>Methods</a:t>
            </a:r>
            <a:endParaRPr lang="tr-TR" u="sng" dirty="0" smtClean="0"/>
          </a:p>
          <a:p>
            <a:r>
              <a:rPr lang="tr-TR" dirty="0" err="1" smtClean="0"/>
              <a:t>Double</a:t>
            </a:r>
            <a:r>
              <a:rPr lang="tr-TR" dirty="0" smtClean="0"/>
              <a:t> </a:t>
            </a:r>
            <a:r>
              <a:rPr lang="tr-TR" dirty="0" err="1" smtClean="0"/>
              <a:t>cantilever</a:t>
            </a:r>
            <a:r>
              <a:rPr lang="tr-TR" dirty="0" smtClean="0"/>
              <a:t> </a:t>
            </a:r>
            <a:r>
              <a:rPr lang="tr-TR" dirty="0" err="1" smtClean="0"/>
              <a:t>beam</a:t>
            </a:r>
            <a:r>
              <a:rPr lang="tr-TR" dirty="0" smtClean="0"/>
              <a:t> test </a:t>
            </a:r>
            <a:r>
              <a:rPr lang="tr-TR" dirty="0" err="1" smtClean="0"/>
              <a:t>with</a:t>
            </a:r>
            <a:r>
              <a:rPr lang="tr-TR" dirty="0" smtClean="0"/>
              <a:t> British </a:t>
            </a:r>
            <a:r>
              <a:rPr lang="tr-TR" dirty="0" err="1" smtClean="0"/>
              <a:t>Standards</a:t>
            </a:r>
            <a:r>
              <a:rPr lang="tr-TR" dirty="0" smtClean="0"/>
              <a:t> 7991</a:t>
            </a:r>
          </a:p>
          <a:p>
            <a:r>
              <a:rPr lang="tr-TR" dirty="0" err="1" smtClean="0"/>
              <a:t>Constant</a:t>
            </a:r>
            <a:r>
              <a:rPr lang="tr-TR" dirty="0" smtClean="0"/>
              <a:t> </a:t>
            </a:r>
            <a:r>
              <a:rPr lang="tr-TR" dirty="0" err="1" smtClean="0"/>
              <a:t>crosshead</a:t>
            </a:r>
            <a:r>
              <a:rPr lang="tr-TR" dirty="0" smtClean="0"/>
              <a:t> </a:t>
            </a:r>
            <a:r>
              <a:rPr lang="tr-TR" dirty="0" err="1" smtClean="0"/>
              <a:t>displacement</a:t>
            </a:r>
            <a:r>
              <a:rPr lang="tr-TR" dirty="0" smtClean="0"/>
              <a:t>: 1mm/</a:t>
            </a:r>
            <a:r>
              <a:rPr lang="tr-TR" dirty="0" err="1" smtClean="0"/>
              <a:t>min</a:t>
            </a:r>
            <a:endParaRPr lang="tr-TR" dirty="0" smtClean="0"/>
          </a:p>
          <a:p>
            <a:r>
              <a:rPr lang="tr-TR" dirty="0" smtClean="0"/>
              <a:t>Three </a:t>
            </a:r>
            <a:r>
              <a:rPr lang="tr-TR" dirty="0" err="1" smtClean="0"/>
              <a:t>repeats</a:t>
            </a:r>
            <a:r>
              <a:rPr lang="tr-TR" dirty="0" smtClean="0"/>
              <a:t> on </a:t>
            </a:r>
            <a:r>
              <a:rPr lang="tr-TR" dirty="0" err="1" smtClean="0"/>
              <a:t>each</a:t>
            </a:r>
            <a:r>
              <a:rPr lang="tr-TR" dirty="0" smtClean="0"/>
              <a:t> </a:t>
            </a:r>
            <a:r>
              <a:rPr lang="tr-TR" dirty="0" err="1" smtClean="0"/>
              <a:t>specimen</a:t>
            </a:r>
            <a:endParaRPr lang="tr-TR" dirty="0" smtClean="0"/>
          </a:p>
          <a:p>
            <a:pPr marL="0" indent="0">
              <a:buNone/>
            </a:pPr>
            <a:r>
              <a:rPr lang="tr-TR" u="sng" dirty="0" smtClean="0"/>
              <a:t>2.2 </a:t>
            </a:r>
            <a:r>
              <a:rPr lang="tr-TR" u="sng" dirty="0" err="1" smtClean="0"/>
              <a:t>Scanning</a:t>
            </a:r>
            <a:r>
              <a:rPr lang="tr-TR" u="sng" dirty="0" smtClean="0"/>
              <a:t> </a:t>
            </a:r>
            <a:r>
              <a:rPr lang="tr-TR" u="sng" dirty="0" err="1" smtClean="0"/>
              <a:t>Electron</a:t>
            </a:r>
            <a:r>
              <a:rPr lang="tr-TR" u="sng" dirty="0" smtClean="0"/>
              <a:t> </a:t>
            </a:r>
            <a:r>
              <a:rPr lang="tr-TR" u="sng" dirty="0" err="1" smtClean="0"/>
              <a:t>Microscopy</a:t>
            </a:r>
            <a:r>
              <a:rPr lang="tr-TR" u="sng" dirty="0" smtClean="0"/>
              <a:t> </a:t>
            </a:r>
            <a:r>
              <a:rPr lang="tr-TR" u="sng" dirty="0" err="1" smtClean="0"/>
              <a:t>Method</a:t>
            </a:r>
            <a:endParaRPr lang="tr-TR" u="sng" dirty="0" smtClean="0"/>
          </a:p>
          <a:p>
            <a:pPr marL="0" indent="0">
              <a:buNone/>
            </a:pPr>
            <a:r>
              <a:rPr lang="tr-TR" u="sng" dirty="0" smtClean="0"/>
              <a:t>2.3 </a:t>
            </a:r>
            <a:r>
              <a:rPr lang="tr-TR" u="sng" dirty="0" err="1" smtClean="0"/>
              <a:t>Thermal</a:t>
            </a:r>
            <a:r>
              <a:rPr lang="tr-TR" u="sng" dirty="0" smtClean="0"/>
              <a:t> </a:t>
            </a:r>
            <a:r>
              <a:rPr lang="tr-TR" u="sng" dirty="0" err="1" smtClean="0"/>
              <a:t>Characterisation</a:t>
            </a:r>
            <a:r>
              <a:rPr lang="tr-TR" u="sng" dirty="0" smtClean="0"/>
              <a:t> </a:t>
            </a:r>
            <a:r>
              <a:rPr lang="tr-TR" u="sng" dirty="0" err="1" smtClean="0"/>
              <a:t>Methods</a:t>
            </a:r>
            <a:endParaRPr lang="tr-TR" u="sng" dirty="0" smtClean="0"/>
          </a:p>
          <a:p>
            <a:r>
              <a:rPr lang="tr-TR" dirty="0" err="1" smtClean="0"/>
              <a:t>Heated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25°C  </a:t>
            </a:r>
            <a:r>
              <a:rPr lang="tr-TR" dirty="0" err="1" smtClean="0"/>
              <a:t>to</a:t>
            </a:r>
            <a:r>
              <a:rPr lang="tr-TR" dirty="0" smtClean="0"/>
              <a:t> 350°C (10</a:t>
            </a:r>
            <a:r>
              <a:rPr lang="tr-TR" dirty="0"/>
              <a:t> °C </a:t>
            </a:r>
            <a:r>
              <a:rPr lang="tr-TR" dirty="0" smtClean="0"/>
              <a:t>/</a:t>
            </a:r>
            <a:r>
              <a:rPr lang="tr-TR" dirty="0" err="1" smtClean="0"/>
              <a:t>min</a:t>
            </a:r>
            <a:r>
              <a:rPr lang="tr-TR" dirty="0" smtClean="0"/>
              <a:t>)</a:t>
            </a:r>
          </a:p>
          <a:p>
            <a:r>
              <a:rPr lang="tr-TR" u="sng" dirty="0" err="1" smtClean="0"/>
              <a:t>To</a:t>
            </a:r>
            <a:r>
              <a:rPr lang="tr-TR" u="sng" dirty="0" smtClean="0"/>
              <a:t> </a:t>
            </a:r>
            <a:r>
              <a:rPr lang="tr-TR" u="sng" dirty="0" err="1" smtClean="0"/>
              <a:t>determine</a:t>
            </a:r>
            <a:r>
              <a:rPr lang="tr-TR" u="sng" dirty="0" smtClean="0"/>
              <a:t> </a:t>
            </a:r>
            <a:r>
              <a:rPr lang="tr-TR" u="sng" dirty="0" err="1" smtClean="0"/>
              <a:t>glass</a:t>
            </a:r>
            <a:r>
              <a:rPr lang="tr-TR" u="sng" dirty="0" smtClean="0"/>
              <a:t> </a:t>
            </a:r>
            <a:r>
              <a:rPr lang="tr-TR" u="sng" dirty="0" err="1" smtClean="0"/>
              <a:t>transition</a:t>
            </a:r>
            <a:r>
              <a:rPr lang="tr-TR" u="sng" dirty="0" smtClean="0"/>
              <a:t> </a:t>
            </a:r>
            <a:r>
              <a:rPr lang="tr-TR" u="sng" dirty="0" err="1" smtClean="0"/>
              <a:t>temperature</a:t>
            </a:r>
            <a:endParaRPr lang="tr-TR" u="sng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45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400" u="sng" dirty="0" smtClean="0"/>
              <a:t>2.4 </a:t>
            </a:r>
            <a:r>
              <a:rPr lang="tr-TR" sz="2400" u="sng" dirty="0" err="1" smtClean="0"/>
              <a:t>Surface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Energy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Characterisation</a:t>
            </a:r>
            <a:endParaRPr lang="tr-TR" sz="2400" u="sng" dirty="0" smtClean="0"/>
          </a:p>
          <a:p>
            <a:r>
              <a:rPr lang="tr-TR" sz="2400" dirty="0" err="1" smtClean="0"/>
              <a:t>Sessile</a:t>
            </a:r>
            <a:r>
              <a:rPr lang="tr-TR" sz="2400" dirty="0" smtClean="0"/>
              <a:t> </a:t>
            </a:r>
            <a:r>
              <a:rPr lang="tr-TR" sz="2400" dirty="0" err="1" smtClean="0"/>
              <a:t>drop</a:t>
            </a:r>
            <a:r>
              <a:rPr lang="tr-TR" sz="2400" dirty="0" smtClean="0"/>
              <a:t> </a:t>
            </a:r>
            <a:r>
              <a:rPr lang="tr-TR" sz="2400" dirty="0" err="1" smtClean="0"/>
              <a:t>technique</a:t>
            </a:r>
            <a:endParaRPr lang="tr-TR" sz="2400" dirty="0" smtClean="0"/>
          </a:p>
          <a:p>
            <a:r>
              <a:rPr lang="tr-TR" sz="2400" dirty="0" err="1" smtClean="0"/>
              <a:t>Surface</a:t>
            </a:r>
            <a:r>
              <a:rPr lang="tr-TR" sz="2400" dirty="0" smtClean="0"/>
              <a:t> </a:t>
            </a:r>
            <a:r>
              <a:rPr lang="tr-TR" sz="2400" dirty="0" err="1" smtClean="0"/>
              <a:t>energy</a:t>
            </a:r>
            <a:r>
              <a:rPr lang="tr-TR" sz="2400" dirty="0" smtClean="0"/>
              <a:t> is </a:t>
            </a:r>
            <a:r>
              <a:rPr lang="tr-TR" sz="2400" dirty="0" err="1" smtClean="0"/>
              <a:t>calculated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OWRK </a:t>
            </a:r>
            <a:r>
              <a:rPr lang="tr-TR" sz="2400" dirty="0" err="1" smtClean="0"/>
              <a:t>method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r>
              <a:rPr lang="tr-TR" sz="2400" u="sng" dirty="0" smtClean="0"/>
              <a:t>2.5 </a:t>
            </a:r>
            <a:r>
              <a:rPr lang="tr-TR" sz="2400" u="sng" dirty="0" err="1" smtClean="0"/>
              <a:t>Labline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Plasma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Treatment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System</a:t>
            </a:r>
            <a:endParaRPr lang="tr-TR" sz="2400" u="sng" dirty="0" smtClean="0"/>
          </a:p>
          <a:p>
            <a:r>
              <a:rPr lang="tr-TR" sz="2400" dirty="0" err="1" smtClean="0"/>
              <a:t>Constant</a:t>
            </a:r>
            <a:r>
              <a:rPr lang="tr-TR" sz="2400" dirty="0" smtClean="0"/>
              <a:t> </a:t>
            </a:r>
            <a:r>
              <a:rPr lang="tr-TR" sz="2400" dirty="0" err="1" smtClean="0"/>
              <a:t>speed</a:t>
            </a:r>
            <a:r>
              <a:rPr lang="tr-TR" sz="2400" dirty="0" smtClean="0"/>
              <a:t>: 1.5 m/</a:t>
            </a:r>
            <a:r>
              <a:rPr lang="tr-TR" sz="2400" dirty="0" err="1" smtClean="0"/>
              <a:t>min</a:t>
            </a:r>
            <a:endParaRPr lang="tr-TR" sz="2400" dirty="0" smtClean="0"/>
          </a:p>
          <a:p>
            <a:r>
              <a:rPr lang="tr-TR" sz="2400" dirty="0" err="1" smtClean="0"/>
              <a:t>Applied</a:t>
            </a:r>
            <a:r>
              <a:rPr lang="tr-TR" sz="2400" dirty="0" smtClean="0"/>
              <a:t> </a:t>
            </a:r>
            <a:r>
              <a:rPr lang="tr-TR" sz="2400" dirty="0" err="1" smtClean="0"/>
              <a:t>only</a:t>
            </a:r>
            <a:r>
              <a:rPr lang="tr-TR" sz="2400" dirty="0" smtClean="0"/>
              <a:t> on </a:t>
            </a:r>
            <a:r>
              <a:rPr lang="tr-TR" sz="2400" dirty="0" err="1" smtClean="0"/>
              <a:t>two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</a:t>
            </a:r>
            <a:r>
              <a:rPr lang="tr-TR" sz="2400" dirty="0" err="1" smtClean="0"/>
              <a:t>surface</a:t>
            </a:r>
            <a:r>
              <a:rPr lang="tr-TR" sz="2400" dirty="0" smtClean="0"/>
              <a:t> </a:t>
            </a:r>
            <a:r>
              <a:rPr lang="tr-TR" sz="2400" dirty="0" err="1" smtClean="0"/>
              <a:t>that</a:t>
            </a:r>
            <a:r>
              <a:rPr lang="tr-TR" sz="2400" dirty="0" smtClean="0"/>
              <a:t> </a:t>
            </a:r>
            <a:r>
              <a:rPr lang="tr-TR" sz="2400" dirty="0" err="1" smtClean="0"/>
              <a:t>direct</a:t>
            </a:r>
            <a:r>
              <a:rPr lang="tr-TR" sz="2400" dirty="0" smtClean="0"/>
              <a:t> </a:t>
            </a:r>
            <a:r>
              <a:rPr lang="tr-TR" sz="2400" dirty="0" err="1" smtClean="0"/>
              <a:t>contact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film </a:t>
            </a:r>
            <a:r>
              <a:rPr lang="tr-TR" sz="2400" dirty="0" err="1" smtClean="0"/>
              <a:t>adhesive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u="sng" dirty="0" smtClean="0"/>
              <a:t>2.6 Optical </a:t>
            </a:r>
            <a:r>
              <a:rPr lang="tr-TR" sz="2400" u="sng" dirty="0" err="1" smtClean="0"/>
              <a:t>Emission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Spectroscopy</a:t>
            </a:r>
            <a:endParaRPr lang="tr-TR" sz="2400" u="sng" dirty="0" smtClean="0"/>
          </a:p>
          <a:p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analyze</a:t>
            </a:r>
            <a:r>
              <a:rPr lang="tr-TR" sz="2400" dirty="0" smtClean="0"/>
              <a:t> </a:t>
            </a:r>
            <a:r>
              <a:rPr lang="tr-TR" sz="2400" dirty="0" err="1" smtClean="0"/>
              <a:t>plasma</a:t>
            </a:r>
            <a:r>
              <a:rPr lang="tr-TR" sz="2400" dirty="0" smtClean="0"/>
              <a:t> </a:t>
            </a:r>
            <a:r>
              <a:rPr lang="tr-TR" sz="2400" dirty="0" err="1" smtClean="0"/>
              <a:t>content</a:t>
            </a:r>
            <a:endParaRPr lang="tr-TR" sz="2400" dirty="0" smtClean="0"/>
          </a:p>
          <a:p>
            <a:r>
              <a:rPr lang="tr-TR" sz="2400" dirty="0" err="1" smtClean="0"/>
              <a:t>Always</a:t>
            </a:r>
            <a:r>
              <a:rPr lang="tr-TR" sz="2400" dirty="0" smtClean="0"/>
              <a:t> N2 </a:t>
            </a:r>
            <a:r>
              <a:rPr lang="tr-TR" sz="2400" dirty="0" err="1" smtClean="0"/>
              <a:t>peaks</a:t>
            </a:r>
            <a:r>
              <a:rPr lang="tr-TR" sz="2400" dirty="0" smtClean="0"/>
              <a:t> in </a:t>
            </a:r>
            <a:r>
              <a:rPr lang="tr-TR" sz="2400" dirty="0" err="1" smtClean="0"/>
              <a:t>spectrum</a:t>
            </a:r>
            <a:r>
              <a:rPr lang="tr-TR" sz="2400" dirty="0" smtClean="0"/>
              <a:t>(</a:t>
            </a:r>
            <a:r>
              <a:rPr lang="tr-TR" sz="2400" dirty="0" err="1" smtClean="0"/>
              <a:t>diffusion</a:t>
            </a:r>
            <a:r>
              <a:rPr lang="tr-TR" sz="2400" dirty="0" smtClean="0"/>
              <a:t>  of </a:t>
            </a:r>
            <a:r>
              <a:rPr lang="tr-TR" sz="2400" dirty="0" err="1" smtClean="0"/>
              <a:t>air</a:t>
            </a:r>
            <a:r>
              <a:rPr lang="tr-TR" sz="2400" dirty="0" smtClean="0"/>
              <a:t> </a:t>
            </a:r>
            <a:r>
              <a:rPr lang="tr-TR" sz="2400" dirty="0" err="1" smtClean="0"/>
              <a:t>into</a:t>
            </a:r>
            <a:r>
              <a:rPr lang="tr-TR" sz="2400" dirty="0" smtClean="0"/>
              <a:t> </a:t>
            </a:r>
            <a:r>
              <a:rPr lang="tr-TR" sz="2400" dirty="0" err="1" smtClean="0"/>
              <a:t>plasma</a:t>
            </a:r>
            <a:r>
              <a:rPr lang="tr-TR" sz="2400" dirty="0" smtClean="0"/>
              <a:t>)</a:t>
            </a:r>
          </a:p>
          <a:p>
            <a:r>
              <a:rPr lang="tr-TR" sz="2400" dirty="0" smtClean="0"/>
              <a:t>He/O2 </a:t>
            </a:r>
            <a:r>
              <a:rPr lang="tr-TR" sz="2400" dirty="0" err="1" smtClean="0"/>
              <a:t>leads</a:t>
            </a:r>
            <a:r>
              <a:rPr lang="tr-TR" sz="2400" dirty="0" smtClean="0"/>
              <a:t> </a:t>
            </a:r>
            <a:r>
              <a:rPr lang="tr-TR" sz="2400" dirty="0" err="1" smtClean="0"/>
              <a:t>more</a:t>
            </a:r>
            <a:r>
              <a:rPr lang="tr-TR" sz="2400" dirty="0" smtClean="0"/>
              <a:t> </a:t>
            </a:r>
            <a:r>
              <a:rPr lang="tr-TR" sz="2400" dirty="0" err="1" smtClean="0"/>
              <a:t>interaction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</a:t>
            </a:r>
            <a:r>
              <a:rPr lang="tr-TR" sz="2400" dirty="0" smtClean="0">
                <a:sym typeface="Wingdings" panose="05000000000000000000" pitchFamily="2" charset="2"/>
              </a:rPr>
              <a:t> </a:t>
            </a:r>
            <a:r>
              <a:rPr lang="tr-TR" sz="2400" dirty="0" err="1" smtClean="0">
                <a:sym typeface="Wingdings" panose="05000000000000000000" pitchFamily="2" charset="2"/>
              </a:rPr>
              <a:t>higher</a:t>
            </a:r>
            <a:r>
              <a:rPr lang="tr-TR" sz="2400" dirty="0" smtClean="0">
                <a:sym typeface="Wingdings" panose="05000000000000000000" pitchFamily="2" charset="2"/>
              </a:rPr>
              <a:t> </a:t>
            </a:r>
            <a:r>
              <a:rPr lang="tr-TR" sz="2400" dirty="0" err="1" smtClean="0">
                <a:sym typeface="Wingdings" panose="05000000000000000000" pitchFamily="2" charset="2"/>
              </a:rPr>
              <a:t>surface</a:t>
            </a:r>
            <a:r>
              <a:rPr lang="tr-TR" sz="2400" dirty="0" smtClean="0">
                <a:sym typeface="Wingdings" panose="05000000000000000000" pitchFamily="2" charset="2"/>
              </a:rPr>
              <a:t> </a:t>
            </a:r>
            <a:r>
              <a:rPr lang="tr-TR" sz="2400" dirty="0" err="1" smtClean="0">
                <a:sym typeface="Wingdings" panose="05000000000000000000" pitchFamily="2" charset="2"/>
              </a:rPr>
              <a:t>energy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3930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2.6 X-Ray </a:t>
            </a:r>
            <a:r>
              <a:rPr lang="tr-TR" u="sng" dirty="0" err="1" smtClean="0"/>
              <a:t>Photoelectron</a:t>
            </a:r>
            <a:r>
              <a:rPr lang="tr-TR" u="sng" dirty="0" smtClean="0"/>
              <a:t> </a:t>
            </a:r>
            <a:r>
              <a:rPr lang="tr-TR" u="sng" dirty="0" err="1" smtClean="0"/>
              <a:t>Spectroscopy</a:t>
            </a:r>
            <a:endParaRPr lang="tr-TR" u="sng" dirty="0" smtClean="0"/>
          </a:p>
          <a:p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study</a:t>
            </a:r>
            <a:r>
              <a:rPr lang="tr-TR" dirty="0" smtClean="0"/>
              <a:t> </a:t>
            </a:r>
            <a:r>
              <a:rPr lang="tr-TR" dirty="0" err="1" smtClean="0"/>
              <a:t>chemical</a:t>
            </a:r>
            <a:r>
              <a:rPr lang="tr-TR" dirty="0" smtClean="0"/>
              <a:t> </a:t>
            </a:r>
            <a:r>
              <a:rPr lang="tr-TR" dirty="0" err="1" smtClean="0"/>
              <a:t>composition</a:t>
            </a:r>
            <a:r>
              <a:rPr lang="tr-TR" dirty="0" smtClean="0"/>
              <a:t> of </a:t>
            </a:r>
            <a:r>
              <a:rPr lang="tr-TR" dirty="0" err="1" smtClean="0"/>
              <a:t>treated</a:t>
            </a:r>
            <a:r>
              <a:rPr lang="tr-TR" dirty="0" smtClean="0"/>
              <a:t> </a:t>
            </a:r>
            <a:r>
              <a:rPr lang="tr-TR" dirty="0" err="1" smtClean="0"/>
              <a:t>surfaces</a:t>
            </a:r>
            <a:endParaRPr lang="tr-TR" dirty="0" smtClean="0"/>
          </a:p>
          <a:p>
            <a:r>
              <a:rPr lang="tr-TR" dirty="0" err="1" smtClean="0"/>
              <a:t>Mean</a:t>
            </a:r>
            <a:r>
              <a:rPr lang="tr-TR" dirty="0" smtClean="0"/>
              <a:t> of 3 </a:t>
            </a:r>
            <a:r>
              <a:rPr lang="tr-TR" dirty="0" err="1" smtClean="0"/>
              <a:t>measurement</a:t>
            </a:r>
            <a:r>
              <a:rPr lang="tr-TR" dirty="0" smtClean="0"/>
              <a:t> on </a:t>
            </a:r>
            <a:r>
              <a:rPr lang="tr-TR" dirty="0" err="1" smtClean="0"/>
              <a:t>different</a:t>
            </a:r>
            <a:r>
              <a:rPr lang="tr-TR" dirty="0" smtClean="0"/>
              <a:t> </a:t>
            </a:r>
            <a:r>
              <a:rPr lang="tr-TR" dirty="0" err="1" smtClean="0"/>
              <a:t>spots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183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3 </a:t>
            </a:r>
            <a:r>
              <a:rPr lang="tr-TR" dirty="0" err="1" smtClean="0"/>
              <a:t>Result&amp;Discussion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tr-TR" sz="2400" u="sng" dirty="0" smtClean="0"/>
              <a:t>3.1 </a:t>
            </a:r>
            <a:r>
              <a:rPr lang="tr-TR" sz="2400" u="sng" dirty="0" err="1" smtClean="0"/>
              <a:t>Surface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Energy</a:t>
            </a:r>
            <a:r>
              <a:rPr lang="tr-TR" sz="2400" u="sng" dirty="0" smtClean="0"/>
              <a:t> Analysis</a:t>
            </a:r>
          </a:p>
          <a:p>
            <a:pPr marL="0" indent="0">
              <a:buNone/>
            </a:pPr>
            <a:r>
              <a:rPr lang="tr-TR" sz="2400" dirty="0" smtClean="0"/>
              <a:t>Three </a:t>
            </a:r>
            <a:r>
              <a:rPr lang="tr-TR" sz="2400" dirty="0" err="1"/>
              <a:t>g</a:t>
            </a:r>
            <a:r>
              <a:rPr lang="tr-TR" sz="2400" dirty="0" err="1" smtClean="0"/>
              <a:t>as</a:t>
            </a:r>
            <a:r>
              <a:rPr lang="tr-TR" sz="2400" dirty="0" smtClean="0"/>
              <a:t> </a:t>
            </a:r>
            <a:r>
              <a:rPr lang="tr-TR" sz="2400" dirty="0" err="1" smtClean="0"/>
              <a:t>mixtures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smtClean="0"/>
              <a:t>He</a:t>
            </a:r>
          </a:p>
          <a:p>
            <a:pPr lvl="1"/>
            <a:r>
              <a:rPr lang="tr-TR" dirty="0" smtClean="0"/>
              <a:t>He/N2</a:t>
            </a:r>
          </a:p>
          <a:p>
            <a:pPr lvl="1"/>
            <a:r>
              <a:rPr lang="tr-TR" dirty="0" smtClean="0"/>
              <a:t>He/O2</a:t>
            </a:r>
            <a:endParaRPr lang="tr-TR" sz="2400" dirty="0"/>
          </a:p>
          <a:p>
            <a:pPr marL="0" indent="0">
              <a:buNone/>
            </a:pPr>
            <a:r>
              <a:rPr lang="tr-TR" sz="2400" dirty="0" err="1" smtClean="0"/>
              <a:t>Power</a:t>
            </a:r>
            <a:r>
              <a:rPr lang="tr-TR" sz="2400" dirty="0" smtClean="0"/>
              <a:t> is </a:t>
            </a:r>
            <a:r>
              <a:rPr lang="tr-TR" sz="2400" dirty="0" err="1" smtClean="0"/>
              <a:t>fixed</a:t>
            </a:r>
            <a:r>
              <a:rPr lang="tr-TR" sz="2400" dirty="0" smtClean="0"/>
              <a:t> at 1200W</a:t>
            </a:r>
          </a:p>
          <a:p>
            <a:pPr marL="0" indent="0">
              <a:buNone/>
            </a:pPr>
            <a:r>
              <a:rPr lang="tr-TR" sz="2400" dirty="0" err="1" smtClean="0"/>
              <a:t>Maintained</a:t>
            </a:r>
            <a:r>
              <a:rPr lang="tr-TR" sz="2400" dirty="0" smtClean="0"/>
              <a:t> at 10L/</a:t>
            </a:r>
            <a:r>
              <a:rPr lang="tr-TR" sz="2400" dirty="0" err="1" smtClean="0"/>
              <a:t>min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dirty="0" err="1" smtClean="0"/>
              <a:t>Energy</a:t>
            </a:r>
            <a:r>
              <a:rPr lang="tr-TR" sz="2400" dirty="0" smtClean="0"/>
              <a:t> is </a:t>
            </a:r>
            <a:r>
              <a:rPr lang="tr-TR" sz="2400" dirty="0" err="1" smtClean="0"/>
              <a:t>measured</a:t>
            </a:r>
            <a:r>
              <a:rPr lang="tr-TR" sz="2400" dirty="0" smtClean="0"/>
              <a:t> </a:t>
            </a:r>
            <a:r>
              <a:rPr lang="tr-TR" sz="2400" dirty="0" err="1" smtClean="0"/>
              <a:t>after</a:t>
            </a:r>
            <a:r>
              <a:rPr lang="tr-TR" sz="2400" dirty="0" smtClean="0"/>
              <a:t> 2hrs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2103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3.2 </a:t>
            </a:r>
            <a:r>
              <a:rPr lang="tr-TR" u="sng" dirty="0" err="1" smtClean="0"/>
              <a:t>Mode</a:t>
            </a:r>
            <a:r>
              <a:rPr lang="tr-TR" u="sng" dirty="0" smtClean="0"/>
              <a:t> I </a:t>
            </a:r>
            <a:r>
              <a:rPr lang="tr-TR" u="sng" dirty="0" err="1" smtClean="0"/>
              <a:t>Fracture</a:t>
            </a:r>
            <a:r>
              <a:rPr lang="tr-TR" u="sng" dirty="0" smtClean="0"/>
              <a:t> </a:t>
            </a:r>
            <a:r>
              <a:rPr lang="tr-TR" u="sng" dirty="0" err="1" smtClean="0"/>
              <a:t>Toughness</a:t>
            </a:r>
            <a:endParaRPr lang="tr-TR" u="sng" dirty="0" smtClean="0"/>
          </a:p>
          <a:p>
            <a:r>
              <a:rPr lang="tr-TR" dirty="0" smtClean="0"/>
              <a:t>He/O2 </a:t>
            </a:r>
            <a:r>
              <a:rPr lang="tr-TR" dirty="0" err="1" smtClean="0"/>
              <a:t>treatment</a:t>
            </a:r>
            <a:r>
              <a:rPr lang="tr-TR" dirty="0" smtClean="0"/>
              <a:t> at 1600W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8425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3.3 XPS Analysis</a:t>
            </a:r>
          </a:p>
          <a:p>
            <a:r>
              <a:rPr lang="tr-TR" dirty="0" err="1" smtClean="0"/>
              <a:t>Samples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treated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He/O2 at 1250W </a:t>
            </a:r>
            <a:r>
              <a:rPr lang="tr-TR" dirty="0" err="1" smtClean="0"/>
              <a:t>for</a:t>
            </a:r>
            <a:r>
              <a:rPr lang="tr-TR" dirty="0" smtClean="0"/>
              <a:t> 5 </a:t>
            </a:r>
            <a:r>
              <a:rPr lang="tr-TR" dirty="0" err="1" smtClean="0"/>
              <a:t>phase</a:t>
            </a:r>
            <a:endParaRPr lang="tr-TR" dirty="0" smtClean="0"/>
          </a:p>
          <a:p>
            <a:r>
              <a:rPr lang="tr-TR" dirty="0" err="1" smtClean="0"/>
              <a:t>The</a:t>
            </a:r>
            <a:r>
              <a:rPr lang="tr-TR" dirty="0" smtClean="0"/>
              <a:t> presence of </a:t>
            </a:r>
            <a:r>
              <a:rPr lang="tr-TR" dirty="0" err="1" smtClean="0"/>
              <a:t>sulphur</a:t>
            </a:r>
            <a:r>
              <a:rPr lang="tr-TR" dirty="0" smtClean="0"/>
              <a:t> (</a:t>
            </a:r>
            <a:r>
              <a:rPr lang="tr-TR" dirty="0" err="1" smtClean="0"/>
              <a:t>thermoplastic</a:t>
            </a:r>
            <a:r>
              <a:rPr lang="tr-TR" dirty="0" smtClean="0"/>
              <a:t> </a:t>
            </a:r>
            <a:r>
              <a:rPr lang="tr-TR" dirty="0" err="1" smtClean="0"/>
              <a:t>toughening</a:t>
            </a:r>
            <a:r>
              <a:rPr lang="tr-TR" dirty="0" smtClean="0"/>
              <a:t> </a:t>
            </a:r>
            <a:r>
              <a:rPr lang="tr-TR" dirty="0" err="1" smtClean="0"/>
              <a:t>agent</a:t>
            </a:r>
            <a:r>
              <a:rPr lang="tr-TR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dirty="0" err="1" smtClean="0"/>
              <a:t>agent</a:t>
            </a:r>
            <a:r>
              <a:rPr lang="tr-TR" dirty="0" smtClean="0"/>
              <a:t> in </a:t>
            </a:r>
            <a:r>
              <a:rPr lang="tr-TR" dirty="0" err="1" smtClean="0"/>
              <a:t>resin</a:t>
            </a:r>
            <a:r>
              <a:rPr lang="tr-TR" dirty="0" smtClean="0"/>
              <a:t>)</a:t>
            </a:r>
          </a:p>
          <a:p>
            <a:r>
              <a:rPr lang="tr-TR" dirty="0" err="1" smtClean="0"/>
              <a:t>Silicon</a:t>
            </a:r>
            <a:r>
              <a:rPr lang="tr-TR" dirty="0" smtClean="0"/>
              <a:t> </a:t>
            </a:r>
            <a:r>
              <a:rPr lang="tr-TR" dirty="0" err="1" smtClean="0"/>
              <a:t>concentration</a:t>
            </a:r>
            <a:r>
              <a:rPr lang="tr-TR" dirty="0" smtClean="0"/>
              <a:t> is in </a:t>
            </a:r>
            <a:r>
              <a:rPr lang="tr-TR" dirty="0" err="1" smtClean="0"/>
              <a:t>decrease</a:t>
            </a:r>
            <a:r>
              <a:rPr lang="tr-TR" dirty="0" smtClean="0"/>
              <a:t>(</a:t>
            </a:r>
            <a:r>
              <a:rPr lang="tr-TR" dirty="0" err="1" smtClean="0"/>
              <a:t>contamination</a:t>
            </a:r>
            <a:r>
              <a:rPr lang="tr-TR" dirty="0" smtClean="0"/>
              <a:t>)</a:t>
            </a:r>
          </a:p>
          <a:p>
            <a:pPr marL="0" indent="0">
              <a:buNone/>
            </a:pPr>
            <a:r>
              <a:rPr lang="tr-TR" u="sng" dirty="0" smtClean="0"/>
              <a:t>3.4 </a:t>
            </a:r>
            <a:r>
              <a:rPr lang="tr-TR" u="sng" dirty="0" err="1" smtClean="0"/>
              <a:t>Microscopy</a:t>
            </a:r>
            <a:r>
              <a:rPr lang="tr-TR" u="sng" dirty="0" smtClean="0"/>
              <a:t> </a:t>
            </a:r>
            <a:r>
              <a:rPr lang="tr-TR" u="sng" dirty="0" err="1" smtClean="0"/>
              <a:t>and</a:t>
            </a:r>
            <a:r>
              <a:rPr lang="tr-TR" u="sng" dirty="0" smtClean="0"/>
              <a:t> </a:t>
            </a:r>
            <a:r>
              <a:rPr lang="tr-TR" u="sng" dirty="0" err="1" smtClean="0"/>
              <a:t>Thermal</a:t>
            </a:r>
            <a:r>
              <a:rPr lang="tr-TR" u="sng" dirty="0" smtClean="0"/>
              <a:t> Analysis</a:t>
            </a:r>
          </a:p>
          <a:p>
            <a:r>
              <a:rPr lang="tr-TR" u="sng" dirty="0" err="1" smtClean="0"/>
              <a:t>Long</a:t>
            </a:r>
            <a:r>
              <a:rPr lang="tr-TR" u="sng" dirty="0" smtClean="0"/>
              <a:t> </a:t>
            </a:r>
            <a:r>
              <a:rPr lang="tr-TR" u="sng" dirty="0" err="1" smtClean="0"/>
              <a:t>treatment</a:t>
            </a:r>
            <a:r>
              <a:rPr lang="tr-TR" u="sng" dirty="0" smtClean="0"/>
              <a:t> </a:t>
            </a:r>
            <a:r>
              <a:rPr lang="tr-TR" u="sng" dirty="0" smtClean="0">
                <a:sym typeface="Wingdings" panose="05000000000000000000" pitchFamily="2" charset="2"/>
              </a:rPr>
              <a:t> </a:t>
            </a:r>
            <a:r>
              <a:rPr lang="tr-TR" u="sng" dirty="0" err="1" smtClean="0">
                <a:sym typeface="Wingdings" panose="05000000000000000000" pitchFamily="2" charset="2"/>
              </a:rPr>
              <a:t>reduced</a:t>
            </a:r>
            <a:r>
              <a:rPr lang="tr-TR" u="sng" dirty="0" smtClean="0">
                <a:sym typeface="Wingdings" panose="05000000000000000000" pitchFamily="2" charset="2"/>
              </a:rPr>
              <a:t> </a:t>
            </a:r>
            <a:r>
              <a:rPr lang="tr-TR" u="sng" dirty="0" err="1" smtClean="0">
                <a:sym typeface="Wingdings" panose="05000000000000000000" pitchFamily="2" charset="2"/>
              </a:rPr>
              <a:t>fracture</a:t>
            </a:r>
            <a:r>
              <a:rPr lang="tr-TR" u="sng" dirty="0" smtClean="0">
                <a:sym typeface="Wingdings" panose="05000000000000000000" pitchFamily="2" charset="2"/>
              </a:rPr>
              <a:t> </a:t>
            </a:r>
            <a:r>
              <a:rPr lang="tr-TR" u="sng" dirty="0" err="1" smtClean="0">
                <a:sym typeface="Wingdings" panose="05000000000000000000" pitchFamily="2" charset="2"/>
              </a:rPr>
              <a:t>tougness</a:t>
            </a:r>
            <a:r>
              <a:rPr lang="tr-TR" u="sng" dirty="0" smtClean="0">
                <a:sym typeface="Wingdings" panose="05000000000000000000" pitchFamily="2" charset="2"/>
              </a:rPr>
              <a:t> in </a:t>
            </a:r>
            <a:r>
              <a:rPr lang="tr-TR" u="sng" dirty="0" err="1" smtClean="0">
                <a:sym typeface="Wingdings" panose="05000000000000000000" pitchFamily="2" charset="2"/>
              </a:rPr>
              <a:t>co-cured</a:t>
            </a:r>
            <a:r>
              <a:rPr lang="tr-TR" u="sng" dirty="0" smtClean="0">
                <a:sym typeface="Wingdings" panose="05000000000000000000" pitchFamily="2" charset="2"/>
              </a:rPr>
              <a:t> </a:t>
            </a:r>
            <a:r>
              <a:rPr lang="tr-TR" u="sng" dirty="0" err="1" smtClean="0">
                <a:sym typeface="Wingdings" panose="05000000000000000000" pitchFamily="2" charset="2"/>
              </a:rPr>
              <a:t>joints</a:t>
            </a:r>
            <a:endParaRPr lang="tr-TR" u="sng" dirty="0" smtClean="0">
              <a:sym typeface="Wingdings" panose="05000000000000000000" pitchFamily="2" charset="2"/>
            </a:endParaRPr>
          </a:p>
          <a:p>
            <a:r>
              <a:rPr lang="tr-TR" u="sng" dirty="0" smtClean="0">
                <a:sym typeface="Wingdings" panose="05000000000000000000" pitchFamily="2" charset="2"/>
              </a:rPr>
              <a:t>????</a:t>
            </a:r>
            <a:endParaRPr lang="tr-TR" u="sng" dirty="0"/>
          </a:p>
        </p:txBody>
      </p:sp>
    </p:spTree>
    <p:extLst>
      <p:ext uri="{BB962C8B-B14F-4D97-AF65-F5344CB8AC3E}">
        <p14:creationId xmlns:p14="http://schemas.microsoft.com/office/powerpoint/2010/main" val="316790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4 </a:t>
            </a:r>
            <a:r>
              <a:rPr lang="tr-TR" dirty="0" err="1" smtClean="0"/>
              <a:t>Conclusion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He/O2 </a:t>
            </a:r>
            <a:r>
              <a:rPr lang="tr-TR" dirty="0" err="1" smtClean="0"/>
              <a:t>treatment</a:t>
            </a:r>
            <a:r>
              <a:rPr lang="tr-TR" dirty="0" smtClean="0"/>
              <a:t> is </a:t>
            </a:r>
            <a:r>
              <a:rPr lang="tr-TR" dirty="0" err="1" smtClean="0"/>
              <a:t>effective</a:t>
            </a:r>
            <a:r>
              <a:rPr lang="tr-TR" dirty="0" smtClean="0"/>
              <a:t> in </a:t>
            </a:r>
            <a:r>
              <a:rPr lang="tr-TR" dirty="0" err="1" smtClean="0"/>
              <a:t>increasing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err="1" smtClean="0"/>
              <a:t>energy</a:t>
            </a:r>
            <a:r>
              <a:rPr lang="tr-TR" dirty="0" smtClean="0"/>
              <a:t> of </a:t>
            </a:r>
            <a:r>
              <a:rPr lang="tr-TR" dirty="0" err="1" smtClean="0"/>
              <a:t>prepreg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 smtClean="0"/>
              <a:t>He </a:t>
            </a:r>
            <a:r>
              <a:rPr lang="tr-TR" dirty="0" err="1" smtClean="0"/>
              <a:t>and</a:t>
            </a:r>
            <a:r>
              <a:rPr lang="tr-TR" dirty="0" smtClean="0"/>
              <a:t> He/N2 is </a:t>
            </a:r>
            <a:r>
              <a:rPr lang="tr-TR" dirty="0" err="1" smtClean="0"/>
              <a:t>very</a:t>
            </a:r>
            <a:r>
              <a:rPr lang="tr-TR" dirty="0" smtClean="0"/>
              <a:t> </a:t>
            </a:r>
            <a:r>
              <a:rPr lang="tr-TR" dirty="0" err="1" smtClean="0"/>
              <a:t>inefficient</a:t>
            </a:r>
            <a:r>
              <a:rPr lang="tr-TR" dirty="0" smtClean="0"/>
              <a:t> in </a:t>
            </a:r>
            <a:r>
              <a:rPr lang="tr-TR" dirty="0" err="1" smtClean="0"/>
              <a:t>increasing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err="1" smtClean="0"/>
              <a:t>energy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 err="1" smtClean="0"/>
              <a:t>Excessive</a:t>
            </a:r>
            <a:r>
              <a:rPr lang="tr-TR" dirty="0" smtClean="0"/>
              <a:t> </a:t>
            </a:r>
            <a:r>
              <a:rPr lang="tr-TR" dirty="0" err="1" smtClean="0"/>
              <a:t>treatments</a:t>
            </a:r>
            <a:r>
              <a:rPr lang="tr-TR" dirty="0" smtClean="0"/>
              <a:t> </a:t>
            </a:r>
            <a:r>
              <a:rPr lang="tr-TR" dirty="0" err="1" smtClean="0"/>
              <a:t>leads</a:t>
            </a:r>
            <a:r>
              <a:rPr lang="tr-TR" dirty="0" smtClean="0"/>
              <a:t> severe </a:t>
            </a:r>
            <a:r>
              <a:rPr lang="tr-TR" dirty="0" err="1" smtClean="0"/>
              <a:t>degradation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performance</a:t>
            </a:r>
            <a:r>
              <a:rPr lang="tr-TR" dirty="0" smtClean="0"/>
              <a:t> </a:t>
            </a:r>
            <a:r>
              <a:rPr lang="tr-TR" dirty="0" err="1" smtClean="0"/>
              <a:t>under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I.</a:t>
            </a:r>
          </a:p>
          <a:p>
            <a:endParaRPr lang="tr-TR" dirty="0"/>
          </a:p>
          <a:p>
            <a:r>
              <a:rPr lang="tr-TR" dirty="0" err="1" smtClean="0"/>
              <a:t>Highly</a:t>
            </a:r>
            <a:r>
              <a:rPr lang="tr-TR" dirty="0" smtClean="0"/>
              <a:t> polar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err="1" smtClean="0"/>
              <a:t>attracts</a:t>
            </a:r>
            <a:r>
              <a:rPr lang="tr-TR" dirty="0" smtClean="0"/>
              <a:t> </a:t>
            </a:r>
            <a:r>
              <a:rPr lang="tr-TR" dirty="0" err="1" smtClean="0"/>
              <a:t>moisture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interface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 err="1" smtClean="0"/>
              <a:t>Long</a:t>
            </a:r>
            <a:r>
              <a:rPr lang="tr-TR" dirty="0" smtClean="0"/>
              <a:t> </a:t>
            </a:r>
            <a:r>
              <a:rPr lang="tr-TR" dirty="0" err="1" smtClean="0"/>
              <a:t>plasma</a:t>
            </a:r>
            <a:r>
              <a:rPr lang="tr-TR" dirty="0" smtClean="0"/>
              <a:t> </a:t>
            </a:r>
            <a:r>
              <a:rPr lang="tr-TR" dirty="0" err="1" smtClean="0"/>
              <a:t>treatment</a:t>
            </a:r>
            <a:r>
              <a:rPr lang="tr-TR" dirty="0" smtClean="0"/>
              <a:t> </a:t>
            </a:r>
            <a:r>
              <a:rPr lang="tr-TR" dirty="0" err="1" smtClean="0"/>
              <a:t>causes</a:t>
            </a:r>
            <a:r>
              <a:rPr lang="tr-TR" dirty="0" smtClean="0"/>
              <a:t> </a:t>
            </a:r>
            <a:r>
              <a:rPr lang="tr-TR" dirty="0" err="1" smtClean="0"/>
              <a:t>pitting</a:t>
            </a:r>
            <a:r>
              <a:rPr lang="tr-TR" dirty="0"/>
              <a:t> </a:t>
            </a:r>
            <a:r>
              <a:rPr lang="tr-TR" dirty="0" smtClean="0">
                <a:sym typeface="Wingdings" panose="05000000000000000000" pitchFamily="2" charset="2"/>
              </a:rPr>
              <a:t></a:t>
            </a:r>
            <a:r>
              <a:rPr lang="tr-TR" dirty="0" err="1" smtClean="0">
                <a:sym typeface="Wingdings" panose="05000000000000000000" pitchFamily="2" charset="2"/>
              </a:rPr>
              <a:t>reduction</a:t>
            </a:r>
            <a:r>
              <a:rPr lang="tr-TR" dirty="0" smtClean="0">
                <a:sym typeface="Wingdings" panose="05000000000000000000" pitchFamily="2" charset="2"/>
              </a:rPr>
              <a:t> in </a:t>
            </a:r>
            <a:r>
              <a:rPr lang="tr-TR" dirty="0" err="1" smtClean="0">
                <a:sym typeface="Wingdings" panose="05000000000000000000" pitchFamily="2" charset="2"/>
              </a:rPr>
              <a:t>fracture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toughness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33391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391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Effect of an Atmospheric Pressure Plasma Treatment on the Mode I Fracture Toughness of a Co-Cured Composite Joint</vt:lpstr>
      <vt:lpstr>1.Introduction</vt:lpstr>
      <vt:lpstr>PowerPoint Presentation</vt:lpstr>
      <vt:lpstr>2.Manufacture&amp;Methods</vt:lpstr>
      <vt:lpstr>PowerPoint Presentation</vt:lpstr>
      <vt:lpstr>PowerPoint Presentation</vt:lpstr>
      <vt:lpstr>PowerPoint Presentation</vt:lpstr>
      <vt:lpstr>3 Result&amp;Discussion</vt:lpstr>
      <vt:lpstr>PowerPoint Presentation</vt:lpstr>
      <vt:lpstr>PowerPoint Presentation</vt:lpstr>
      <vt:lpstr>4 Conclusion</vt:lpstr>
    </vt:vector>
  </TitlesOfParts>
  <Company>TAI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Adhesive Bonding</dc:title>
  <dc:creator>Mehmet Erdem İri̇ş</dc:creator>
  <cp:lastModifiedBy>Mehmet Erdem İri̇ş</cp:lastModifiedBy>
  <cp:revision>9</cp:revision>
  <dcterms:created xsi:type="dcterms:W3CDTF">2018-03-27T12:59:21Z</dcterms:created>
  <dcterms:modified xsi:type="dcterms:W3CDTF">2018-03-27T14:06:26Z</dcterms:modified>
</cp:coreProperties>
</file>